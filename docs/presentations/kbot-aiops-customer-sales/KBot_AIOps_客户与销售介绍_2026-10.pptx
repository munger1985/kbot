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KBot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539496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</a:rPr>
              <a:t>KBot AIOps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65960"/>
            <a:ext cx="53949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YaHei"/>
              </a:rPr>
              <a:t>可信、可控的数据库智能运维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816352"/>
            <a:ext cx="470916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5D2DE"/>
                </a:solidFill>
                <a:latin typeface="Microsoft YaHei"/>
              </a:rPr>
              <a:t>把监控、数据库、运维知识与人的判断</a:t>
            </a:r>
            <a:br/>
            <a:r>
              <a:rPr sz="1700" b="0">
                <a:solidFill>
                  <a:srgbClr val="C5D2DE"/>
                </a:solidFill>
                <a:latin typeface="Microsoft YaHei"/>
              </a:rPr>
              <a:t>组织成一条可验证的闭环。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5010912"/>
            <a:ext cx="1417320" cy="310896"/>
          </a:xfrm>
          <a:prstGeom prst="roundRect">
            <a:avLst/>
          </a:prstGeom>
          <a:solidFill>
            <a:srgbClr val="24445F"/>
          </a:solidFill>
          <a:ln w="6350">
            <a:solidFill>
              <a:srgbClr val="345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5010912"/>
            <a:ext cx="141732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客户与销售介绍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413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9FB1C2"/>
                </a:solidFill>
                <a:latin typeface="Microsoft YaHei"/>
              </a:rPr>
              <a:t>2026 · 基于当前 KBot4 能力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732520" y="1307592"/>
            <a:ext cx="320039" cy="1911096"/>
          </a:xfrm>
          <a:prstGeom prst="line">
            <a:avLst/>
          </a:prstGeom>
          <a:ln w="17780">
            <a:solidFill>
              <a:srgbClr val="355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732520" y="2057400"/>
            <a:ext cx="1828799" cy="1161288"/>
          </a:xfrm>
          <a:prstGeom prst="line">
            <a:avLst/>
          </a:prstGeom>
          <a:ln w="17780">
            <a:solidFill>
              <a:srgbClr val="355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32520" y="3218688"/>
            <a:ext cx="2057399" cy="576072"/>
          </a:xfrm>
          <a:prstGeom prst="line">
            <a:avLst/>
          </a:prstGeom>
          <a:ln w="17780">
            <a:solidFill>
              <a:srgbClr val="355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732520" y="3218688"/>
            <a:ext cx="877824" cy="1874520"/>
          </a:xfrm>
          <a:prstGeom prst="line">
            <a:avLst/>
          </a:prstGeom>
          <a:ln w="17780">
            <a:solidFill>
              <a:srgbClr val="355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818119" y="3218688"/>
            <a:ext cx="914401" cy="1655064"/>
          </a:xfrm>
          <a:prstGeom prst="line">
            <a:avLst/>
          </a:prstGeom>
          <a:ln w="17780">
            <a:solidFill>
              <a:srgbClr val="355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7315200" y="3108960"/>
            <a:ext cx="1417320" cy="109728"/>
          </a:xfrm>
          <a:prstGeom prst="line">
            <a:avLst/>
          </a:prstGeom>
          <a:ln w="17780">
            <a:solidFill>
              <a:srgbClr val="355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909560" y="2395728"/>
            <a:ext cx="1645920" cy="1645920"/>
          </a:xfrm>
          <a:prstGeom prst="ellipse">
            <a:avLst/>
          </a:prstGeom>
          <a:solidFill>
            <a:srgbClr val="1E4662"/>
          </a:solidFill>
          <a:ln w="25400"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2596896"/>
            <a:ext cx="1645920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Microsoft YaHei"/>
              </a:rPr>
              <a:t>AIOps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108960"/>
            <a:ext cx="16459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>
                <a:solidFill>
                  <a:srgbClr val="BFD0DE"/>
                </a:solidFill>
                <a:latin typeface="Microsoft YaHei"/>
              </a:rPr>
              <a:t>证据闭环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896112"/>
            <a:ext cx="822960" cy="822960"/>
          </a:xfrm>
          <a:prstGeom prst="ellipse">
            <a:avLst/>
          </a:prstGeom>
          <a:solidFill>
            <a:srgbClr val="17324D"/>
          </a:solidFill>
          <a:ln w="22860"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896112"/>
            <a:ext cx="82296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发现</a:t>
            </a:r>
          </a:p>
        </p:txBody>
      </p:sp>
      <p:sp>
        <p:nvSpPr>
          <p:cNvPr id="22" name="Oval 21"/>
          <p:cNvSpPr/>
          <p:nvPr/>
        </p:nvSpPr>
        <p:spPr>
          <a:xfrm>
            <a:off x="10149840" y="1645920"/>
            <a:ext cx="822960" cy="822960"/>
          </a:xfrm>
          <a:prstGeom prst="ellipse">
            <a:avLst/>
          </a:prstGeom>
          <a:solidFill>
            <a:srgbClr val="17324D"/>
          </a:solidFill>
          <a:ln w="22860"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1645920"/>
            <a:ext cx="82296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观测</a:t>
            </a:r>
          </a:p>
        </p:txBody>
      </p:sp>
      <p:sp>
        <p:nvSpPr>
          <p:cNvPr id="24" name="Oval 23"/>
          <p:cNvSpPr/>
          <p:nvPr/>
        </p:nvSpPr>
        <p:spPr>
          <a:xfrm>
            <a:off x="10378440" y="3383280"/>
            <a:ext cx="822960" cy="822960"/>
          </a:xfrm>
          <a:prstGeom prst="ellipse">
            <a:avLst/>
          </a:prstGeom>
          <a:solidFill>
            <a:srgbClr val="17324D"/>
          </a:solidFill>
          <a:ln w="22860"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3383280"/>
            <a:ext cx="82296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诊断</a:t>
            </a:r>
          </a:p>
        </p:txBody>
      </p:sp>
      <p:sp>
        <p:nvSpPr>
          <p:cNvPr id="26" name="Oval 25"/>
          <p:cNvSpPr/>
          <p:nvPr/>
        </p:nvSpPr>
        <p:spPr>
          <a:xfrm>
            <a:off x="9198864" y="4681728"/>
            <a:ext cx="822960" cy="822960"/>
          </a:xfrm>
          <a:prstGeom prst="ellipse">
            <a:avLst/>
          </a:prstGeom>
          <a:solidFill>
            <a:srgbClr val="17324D"/>
          </a:solidFill>
          <a:ln w="22860"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8864" y="4681728"/>
            <a:ext cx="82296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验证</a:t>
            </a:r>
          </a:p>
        </p:txBody>
      </p:sp>
      <p:sp>
        <p:nvSpPr>
          <p:cNvPr id="28" name="Oval 27"/>
          <p:cNvSpPr/>
          <p:nvPr/>
        </p:nvSpPr>
        <p:spPr>
          <a:xfrm>
            <a:off x="7406640" y="4462272"/>
            <a:ext cx="822960" cy="822960"/>
          </a:xfrm>
          <a:prstGeom prst="ellipse">
            <a:avLst/>
          </a:prstGeom>
          <a:solidFill>
            <a:srgbClr val="17324D"/>
          </a:solidFill>
          <a:ln w="2286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4462272"/>
            <a:ext cx="82296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报告</a:t>
            </a:r>
          </a:p>
        </p:txBody>
      </p:sp>
      <p:sp>
        <p:nvSpPr>
          <p:cNvPr id="30" name="Oval 29"/>
          <p:cNvSpPr/>
          <p:nvPr/>
        </p:nvSpPr>
        <p:spPr>
          <a:xfrm>
            <a:off x="6903720" y="2697480"/>
            <a:ext cx="822960" cy="822960"/>
          </a:xfrm>
          <a:prstGeom prst="ellipse">
            <a:avLst/>
          </a:prstGeom>
          <a:solidFill>
            <a:srgbClr val="17324D"/>
          </a:solidFill>
          <a:ln w="2286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2697480"/>
            <a:ext cx="82296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处置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B9C8D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B9C8D6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01 ·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什么是 AIOps？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不是“让 AI 接管运维”，而是让 AI 在真实数据和治理边界内参与决策。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21408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Microsoft YaHei"/>
              </a:rPr>
              <a:t>AIOps = </a:t>
            </a:r>
            <a:r>
              <a:rPr sz="2700" b="1">
                <a:solidFill>
                  <a:srgbClr val="2C6BED"/>
                </a:solidFill>
                <a:latin typeface="Microsoft YaHei"/>
              </a:rPr>
              <a:t>AI 决策能力</a:t>
            </a:r>
            <a:r>
              <a:rPr sz="2700" b="1">
                <a:solidFill>
                  <a:srgbClr val="10243A"/>
                </a:solidFill>
                <a:latin typeface="Microsoft YaHei"/>
              </a:rPr>
              <a:t> × 运维数据 × 治理闭环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063240"/>
            <a:ext cx="3108960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310128"/>
            <a:ext cx="603504" cy="603504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3310128"/>
            <a:ext cx="603504" cy="60350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46120"/>
            <a:ext cx="1874519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AI 决策能力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68496"/>
            <a:ext cx="260604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27386"/>
                </a:solidFill>
                <a:latin typeface="Microsoft YaHei"/>
              </a:rPr>
              <a:t>理解问题、选择诊断路径、形成可解释假设与建议。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063240"/>
            <a:ext cx="3108960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43400" y="3310128"/>
            <a:ext cx="603504" cy="603504"/>
          </a:xfrm>
          <a:prstGeom prst="ellipse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3310128"/>
            <a:ext cx="603504" cy="60350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246120"/>
            <a:ext cx="1874519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运维数据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3968496"/>
            <a:ext cx="260604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27386"/>
                </a:solidFill>
                <a:latin typeface="Microsoft YaHei"/>
              </a:rPr>
              <a:t>连接监控、数据库、日志、知识与人工补充证据。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7808" y="3063240"/>
            <a:ext cx="3108960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36408" y="3310128"/>
            <a:ext cx="603504" cy="603504"/>
          </a:xfrm>
          <a:prstGeom prst="ellipse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36408" y="3310128"/>
            <a:ext cx="603504" cy="60350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CTRL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3246120"/>
            <a:ext cx="1874519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治理闭环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4696" y="3968496"/>
            <a:ext cx="260604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27386"/>
                </a:solidFill>
                <a:latin typeface="Microsoft YaHei"/>
              </a:rPr>
              <a:t>权限、策略、审批、执行复核、效果验证与审计。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5285232"/>
            <a:ext cx="10094976" cy="640080"/>
          </a:xfrm>
          <a:prstGeom prst="round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285232"/>
            <a:ext cx="960120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核心价值：从“告警发生了”走到“为什么、怎么办、做完是否有效”。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02 ·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传统运维的难点，不是缺工具，而是缺一条共同的判断链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监控看见现象，专家解释原因，流程控制行动——三者往往彼此割裂。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194560"/>
            <a:ext cx="251460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40864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2C6BED"/>
                </a:solidFill>
                <a:latin typeface="Microsoft YaHe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54864" cy="457200"/>
          </a:xfrm>
          <a:prstGeom prst="rect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1920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信息分散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36391"/>
            <a:ext cx="1892807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27386"/>
                </a:solidFill>
                <a:latin typeface="Microsoft YaHei"/>
              </a:rPr>
              <a:t>指标、日志、数据库状态和手册分布在不同系统，排障靠人工拼接。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2194560"/>
            <a:ext cx="251460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2340864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11296" y="2697480"/>
            <a:ext cx="54864" cy="45720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651760"/>
            <a:ext cx="1920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告警没有答案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136391"/>
            <a:ext cx="1892807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27386"/>
                </a:solidFill>
                <a:latin typeface="Microsoft YaHei"/>
              </a:rPr>
              <a:t>告警说明“异常发生”，却不说明影响、根因、证据缺口和下一步。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8464" y="2194560"/>
            <a:ext cx="251460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1" y="2340864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F2A93B"/>
                </a:solidFill>
                <a:latin typeface="Microsoft YaHei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1" y="2697480"/>
            <a:ext cx="54864" cy="4572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651760"/>
            <a:ext cx="1920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经验难复制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136391"/>
            <a:ext cx="1892807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27386"/>
                </a:solidFill>
                <a:latin typeface="Microsoft YaHei"/>
              </a:rPr>
              <a:t>关键判断依赖少数专家，过程没有标准结构，也难复用到下一次。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2194560"/>
            <a:ext cx="251460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87968" y="2340864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9534F"/>
                </a:solidFill>
                <a:latin typeface="Microsoft YaHei"/>
              </a:rP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87968" y="2697480"/>
            <a:ext cx="54864" cy="457200"/>
          </a:xfrm>
          <a:prstGeom prst="rect">
            <a:avLst/>
          </a:prstGeom>
          <a:solidFill>
            <a:srgbClr val="D9534F"/>
          </a:solidFill>
          <a:ln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2651760"/>
            <a:ext cx="1920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处置难审计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3136391"/>
            <a:ext cx="1892807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27386"/>
                </a:solidFill>
                <a:latin typeface="Microsoft YaHei"/>
              </a:rPr>
              <a:t>建议、批准、执行和验证缺少统一记录，命令成功也不代表问题解决。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" y="4892040"/>
            <a:ext cx="918972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53312" y="4892040"/>
            <a:ext cx="8641080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50" b="1">
                <a:solidFill>
                  <a:srgbClr val="10243A"/>
                </a:solidFill>
                <a:latin typeface="Microsoft YaHei"/>
              </a:rPr>
              <a:t>KBot AIOps 把一次排障变成可复盘、可复用、可治理的组织资产。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03 ·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从发现问题，到证明问题已经改善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B9C8D6"/>
                </a:solidFill>
                <a:latin typeface="Microsoft YaHei"/>
              </a:rPr>
              <a:t>同一条闭环承接人工对话、监控告警和定时巡检。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2C6BED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对话 / 告警 / 巡检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6504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6816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00A69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6816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6816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监控与数据库证据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72384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2C6BED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2112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诊断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候选根因与反证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7096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F2A93B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评估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证据等级与缺口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2392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22976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32704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00A69A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2704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建议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缓解与长期方案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7688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48272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F2A93B"/>
                </a:solidFill>
                <a:latin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审批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逐条人工把关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72983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73568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3296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D9534F"/>
                </a:solidFill>
                <a:latin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83296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执行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83296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受控动作目录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98864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08592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00A69A"/>
                </a:solidFill>
                <a:latin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08592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验证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08592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同口径 Before / After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23576" y="3044952"/>
            <a:ext cx="201168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7790A7"/>
                </a:solidFill>
                <a:latin typeface="Microsoft YaHei"/>
              </a:rPr>
              <a:t>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4160" y="2331720"/>
            <a:ext cx="1133856" cy="1993392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65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33888" y="2441448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50" b="1">
                <a:solidFill>
                  <a:srgbClr val="2C6BED"/>
                </a:solidFill>
                <a:latin typeface="Microsoft YaHei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3888" y="2770632"/>
            <a:ext cx="9144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报告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33888" y="3291839"/>
            <a:ext cx="91440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B9C8D6"/>
                </a:solidFill>
                <a:latin typeface="Microsoft YaHei"/>
              </a:rPr>
              <a:t>复盘、巡检与对比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3000" y="4892040"/>
            <a:ext cx="9902952" cy="658368"/>
          </a:xfrm>
          <a:prstGeom prst="roundRect">
            <a:avLst/>
          </a:prstGeom>
          <a:solidFill>
            <a:srgbClr val="1E4662"/>
          </a:solidFill>
          <a:ln w="8890">
            <a:solidFill>
              <a:srgbClr val="2C6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17320" y="4892040"/>
            <a:ext cx="93726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每一步都保存事实、责任人与版本；无法判断时，系统如实说明证据不足。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B9C8D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B9C8D6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04 ·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一套平台，连接数据、形成判断、控制行动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能力不是孤立菜单，而是围绕运维任务（Run）协同工作。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7452360" cy="658368"/>
          </a:xfrm>
          <a:prstGeom prst="roundRect">
            <a:avLst/>
          </a:prstGeom>
          <a:solidFill>
            <a:srgbClr val="E9F0FF"/>
          </a:solidFill>
          <a:ln>
            <a:solidFill>
              <a:srgbClr val="E9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331720"/>
            <a:ext cx="1024128" cy="402336"/>
          </a:xfrm>
          <a:prstGeom prst="roundRect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331720"/>
            <a:ext cx="102412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连接层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2286000"/>
            <a:ext cx="5733288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0243A"/>
                </a:solidFill>
                <a:latin typeface="Microsoft YaHei"/>
              </a:rPr>
              <a:t>运维目标 · 监控源 · 数据库 · 日志 · 文件 · 运维知识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72384"/>
            <a:ext cx="7452360" cy="658368"/>
          </a:xfrm>
          <a:prstGeom prst="roundRect">
            <a:avLst/>
          </a:prstGeom>
          <a:solidFill>
            <a:srgbClr val="E5F7F4"/>
          </a:solidFill>
          <a:ln>
            <a:solidFill>
              <a:srgbClr val="E5F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" y="3191256"/>
            <a:ext cx="1024128" cy="402336"/>
          </a:xfrm>
          <a:prstGeom prst="round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191256"/>
            <a:ext cx="102412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智能层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3145536"/>
            <a:ext cx="5733288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0243A"/>
                </a:solidFill>
                <a:latin typeface="Microsoft YaHei"/>
              </a:rPr>
              <a:t>私有 DBA Agent · 诊断工具 · Playbook · 根因评估 · 人工补证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7452360" cy="658368"/>
          </a:xfrm>
          <a:prstGeom prst="roundRect">
            <a:avLst/>
          </a:prstGeom>
          <a:solidFill>
            <a:srgbClr val="FFF3DC"/>
          </a:solidFill>
          <a:ln>
            <a:solidFill>
              <a:srgbClr val="FF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" y="4050791"/>
            <a:ext cx="1024128" cy="402336"/>
          </a:xfrm>
          <a:prstGeom prst="round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050791"/>
            <a:ext cx="102412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治理层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9968" y="4005072"/>
            <a:ext cx="5733288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0243A"/>
                </a:solidFill>
                <a:latin typeface="Microsoft YaHei"/>
              </a:rPr>
              <a:t>策略 · 权限 · 审批 · 受控执行 · 处理后验证 · 版本化报告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212848"/>
            <a:ext cx="2852928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1352" y="2286000"/>
            <a:ext cx="96012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500" b="1">
                <a:solidFill>
                  <a:srgbClr val="2C6BED"/>
                </a:solidFill>
                <a:latin typeface="Microsoft YaHei"/>
              </a:rPr>
              <a:t>154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2304288"/>
            <a:ext cx="1618488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0243A"/>
                </a:solidFill>
                <a:latin typeface="Microsoft YaHei"/>
              </a:rPr>
              <a:t>版本化只读诊断工具</a:t>
            </a:r>
            <a:br/>
            <a:r>
              <a:rPr sz="1150" b="1">
                <a:solidFill>
                  <a:srgbClr val="10243A"/>
                </a:solidFill>
                <a:latin typeface="Microsoft YaHei"/>
              </a:rPr>
              <a:t>Oracle · MySQL · 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724912"/>
            <a:ext cx="1618488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当前代码目录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3273552"/>
            <a:ext cx="2852928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31352" y="3346704"/>
            <a:ext cx="96012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500" b="1">
                <a:solidFill>
                  <a:srgbClr val="F2A93B"/>
                </a:solidFill>
                <a:latin typeface="Microsoft YaHei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3364992"/>
            <a:ext cx="1618488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0243A"/>
                </a:solidFill>
                <a:latin typeface="Microsoft YaHei"/>
              </a:rPr>
              <a:t>审批后可执行动作模板</a:t>
            </a:r>
            <a:br/>
            <a:r>
              <a:rPr sz="1150" b="1">
                <a:solidFill>
                  <a:srgbClr val="10243A"/>
                </a:solidFill>
                <a:latin typeface="Microsoft YaHei"/>
              </a:rPr>
              <a:t>Oracle · MySQL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5752" y="3785616"/>
            <a:ext cx="1618488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当前代码目录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4334256"/>
            <a:ext cx="2852928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4407408"/>
            <a:ext cx="96012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500" b="1">
                <a:solidFill>
                  <a:srgbClr val="00A69A"/>
                </a:solidFill>
                <a:latin typeface="Microsoft YaHe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5752" y="4425696"/>
            <a:ext cx="1618488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0243A"/>
                </a:solidFill>
                <a:latin typeface="Microsoft YaHei"/>
              </a:rPr>
              <a:t>主要业务入口</a:t>
            </a:r>
            <a:br/>
            <a:r>
              <a:rPr sz="1150" b="1">
                <a:solidFill>
                  <a:srgbClr val="10243A"/>
                </a:solidFill>
                <a:latin typeface="Microsoft YaHei"/>
              </a:rPr>
              <a:t>对话 · 告警 · 巡检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2" y="4846320"/>
            <a:ext cx="1618488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当前代码目录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84064"/>
            <a:ext cx="7498079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627386"/>
                </a:solidFill>
                <a:latin typeface="Microsoft YaHei"/>
              </a:rPr>
              <a:t>边界说明：动作是否可执行，仍取决于授权、策略、部署开关、凭据与人工审批。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6473952"/>
            <a:ext cx="699516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750" b="0">
                <a:solidFill>
                  <a:srgbClr val="627386"/>
                </a:solidFill>
                <a:latin typeface="Microsoft YaHei"/>
              </a:rPr>
              <a:t>数据源：当前诊断与动作目录（2026-10-12）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05 · ENTRY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三种入口，进入同一条诊断与报告链路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无论问题从哪里开始，证据、策略、Agent 版本和审计方式保持一致。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157984"/>
            <a:ext cx="3035808" cy="2340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2432304"/>
            <a:ext cx="594360" cy="594360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432304"/>
            <a:ext cx="594360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2359152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10243A"/>
                </a:solidFill>
                <a:latin typeface="Microsoft YaHei"/>
              </a:rPr>
              <a:t>对话诊断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108960"/>
            <a:ext cx="254203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2C6BED"/>
                </a:solidFill>
                <a:latin typeface="Microsoft YaHei"/>
              </a:rPr>
              <a:t>即时排障与多轮追问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547872"/>
            <a:ext cx="2523744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70" b="0">
                <a:solidFill>
                  <a:srgbClr val="627386"/>
                </a:solidFill>
                <a:latin typeface="Microsoft YaHei"/>
              </a:rPr>
              <a:t>适合值班人员、DBA 与应用负责人主动提问。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39696" y="4498848"/>
            <a:ext cx="3968496" cy="457200"/>
          </a:xfrm>
          <a:prstGeom prst="line">
            <a:avLst/>
          </a:prstGeom>
          <a:ln w="15240">
            <a:solidFill>
              <a:srgbClr val="9AA8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023360" y="2157984"/>
            <a:ext cx="3035808" cy="2340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42816" y="2432304"/>
            <a:ext cx="594360" cy="594360"/>
          </a:xfrm>
          <a:prstGeom prst="ellipse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2816" y="2432304"/>
            <a:ext cx="594360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359152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10243A"/>
                </a:solidFill>
                <a:latin typeface="Microsoft YaHei"/>
              </a:rPr>
              <a:t>告警诊断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3108960"/>
            <a:ext cx="254203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F2A93B"/>
                </a:solidFill>
                <a:latin typeface="Microsoft YaHei"/>
              </a:rPr>
              <a:t>监控事件自动创建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1104" y="3547872"/>
            <a:ext cx="2523744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70" b="0">
                <a:solidFill>
                  <a:srgbClr val="627386"/>
                </a:solidFill>
                <a:latin typeface="Microsoft YaHei"/>
              </a:rPr>
              <a:t>验签、映射、去重后启动诊断；证据不足则输出受限结论。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541264" y="4498848"/>
            <a:ext cx="566928" cy="457200"/>
          </a:xfrm>
          <a:prstGeom prst="line">
            <a:avLst/>
          </a:prstGeom>
          <a:ln w="15240">
            <a:solidFill>
              <a:srgbClr val="9AA8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24927" y="2157984"/>
            <a:ext cx="3035808" cy="2340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44383" y="2432304"/>
            <a:ext cx="594360" cy="594360"/>
          </a:xfrm>
          <a:prstGeom prst="ellipse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4383" y="2432304"/>
            <a:ext cx="594360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359152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10243A"/>
                </a:solidFill>
                <a:latin typeface="Microsoft YaHei"/>
              </a:rPr>
              <a:t>定时巡检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3108960"/>
            <a:ext cx="254203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00A69A"/>
                </a:solidFill>
                <a:latin typeface="Microsoft YaHei"/>
              </a:rPr>
              <a:t>日报、周报与 Cron 计划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3547872"/>
            <a:ext cx="2523744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70" b="0">
                <a:solidFill>
                  <a:srgbClr val="627386"/>
                </a:solidFill>
                <a:latin typeface="Microsoft YaHei"/>
              </a:rPr>
              <a:t>按计划冻结 Agent 与 Target 范围，持续沉淀风险和趋势。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108192" y="4498848"/>
            <a:ext cx="2834640" cy="457200"/>
          </a:xfrm>
          <a:prstGeom prst="line">
            <a:avLst/>
          </a:prstGeom>
          <a:ln w="15240">
            <a:solidFill>
              <a:srgbClr val="9AA8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980944" y="4709160"/>
            <a:ext cx="6236208" cy="749808"/>
          </a:xfrm>
          <a:prstGeom prst="round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46120" y="4709160"/>
            <a:ext cx="5705856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统一运维任务：证据 → 判断 → 建议 → 验证 → 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06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KBot 的特色：AI 结论必须带着证据等级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知识可以解释机制，模型可以提出假设，但现场事实必须来自可追溯证据。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157984"/>
            <a:ext cx="294436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2249424"/>
            <a:ext cx="438912" cy="438912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49424"/>
            <a:ext cx="4389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212848"/>
            <a:ext cx="877824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0243A"/>
                </a:solidFill>
                <a:latin typeface="Microsoft YaHei"/>
              </a:rPr>
              <a:t>系统验证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478024"/>
            <a:ext cx="1874519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80" b="0">
                <a:solidFill>
                  <a:srgbClr val="627386"/>
                </a:solidFill>
                <a:latin typeface="Microsoft YaHei"/>
              </a:rPr>
              <a:t>监控或数据库直接观测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962656"/>
            <a:ext cx="294436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4672" y="3054096"/>
            <a:ext cx="438912" cy="438912"/>
          </a:xfrm>
          <a:prstGeom prst="ellipse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054096"/>
            <a:ext cx="4389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017520"/>
            <a:ext cx="877824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0243A"/>
                </a:solidFill>
                <a:latin typeface="Microsoft YaHei"/>
              </a:rPr>
              <a:t>用户提供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282696"/>
            <a:ext cx="1874519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80" b="0">
                <a:solidFill>
                  <a:srgbClr val="627386"/>
                </a:solidFill>
                <a:latin typeface="Microsoft YaHei"/>
              </a:rPr>
              <a:t>SQL 结果、文本、CSV、截图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767328"/>
            <a:ext cx="294436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3858768"/>
            <a:ext cx="438912" cy="438912"/>
          </a:xfrm>
          <a:prstGeom prst="ellipse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858768"/>
            <a:ext cx="4389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822191"/>
            <a:ext cx="877824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0243A"/>
                </a:solidFill>
                <a:latin typeface="Microsoft YaHei"/>
              </a:rPr>
              <a:t>知识引用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4087368"/>
            <a:ext cx="1874519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80" b="0">
                <a:solidFill>
                  <a:srgbClr val="627386"/>
                </a:solidFill>
                <a:latin typeface="Microsoft YaHei"/>
              </a:rPr>
              <a:t>SOP、手册与历史经验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572000"/>
            <a:ext cx="294436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4672" y="4663440"/>
            <a:ext cx="438912" cy="438912"/>
          </a:xfrm>
          <a:prstGeom prst="ellipse">
            <a:avLst/>
          </a:prstGeom>
          <a:solidFill>
            <a:srgbClr val="627386"/>
          </a:solidFill>
          <a:ln>
            <a:solidFill>
              <a:srgbClr val="6273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663440"/>
            <a:ext cx="4389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626864"/>
            <a:ext cx="877824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0243A"/>
                </a:solidFill>
                <a:latin typeface="Microsoft YaHei"/>
              </a:rPr>
              <a:t>模型推断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4892040"/>
            <a:ext cx="1874519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80" b="0">
                <a:solidFill>
                  <a:srgbClr val="627386"/>
                </a:solidFill>
                <a:latin typeface="Microsoft YaHei"/>
              </a:rPr>
              <a:t>摘要、假设与因果推理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9080" y="2432304"/>
            <a:ext cx="2788920" cy="2761488"/>
          </a:xfrm>
          <a:prstGeom prst="round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2670048"/>
            <a:ext cx="212140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候选根因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498848" y="3291840"/>
            <a:ext cx="1920240" cy="0"/>
          </a:xfrm>
          <a:prstGeom prst="line">
            <a:avLst/>
          </a:prstGeom>
          <a:ln w="15240">
            <a:solidFill>
              <a:srgbClr val="496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89120" y="3456432"/>
            <a:ext cx="987552" cy="3017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00A69A"/>
                </a:solidFill>
                <a:latin typeface="Microsoft YaHei"/>
              </a:rPr>
              <a:t>支持证据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13832" y="3456432"/>
            <a:ext cx="987552" cy="3017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2A93B"/>
                </a:solidFill>
                <a:latin typeface="Microsoft YaHei"/>
              </a:rPr>
              <a:t>反证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6048" y="4005072"/>
            <a:ext cx="987552" cy="3017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C5D2DE"/>
                </a:solidFill>
                <a:latin typeface="Microsoft YaHei"/>
              </a:rPr>
              <a:t>数据缺口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4590288"/>
            <a:ext cx="212140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证据评估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2157984"/>
            <a:ext cx="3822191" cy="621792"/>
          </a:xfrm>
          <a:prstGeom prst="roundRect">
            <a:avLst/>
          </a:prstGeom>
          <a:solidFill>
            <a:srgbClr val="E5F7F4"/>
          </a:solidFill>
          <a:ln>
            <a:solidFill>
              <a:srgbClr val="E5F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71231" y="2221991"/>
            <a:ext cx="1051560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00A69A"/>
                </a:solidFill>
                <a:latin typeface="Microsoft YaHei"/>
              </a:rPr>
              <a:t>已确认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231136"/>
            <a:ext cx="217627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0243A"/>
                </a:solidFill>
                <a:latin typeface="Microsoft YaHei"/>
              </a:rPr>
              <a:t>直接证据充分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60920" y="2962656"/>
            <a:ext cx="3822191" cy="621792"/>
          </a:xfrm>
          <a:prstGeom prst="roundRect">
            <a:avLst/>
          </a:prstGeom>
          <a:solidFill>
            <a:srgbClr val="E9F0FF"/>
          </a:solidFill>
          <a:ln>
            <a:solidFill>
              <a:srgbClr val="E9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71231" y="3026663"/>
            <a:ext cx="1051560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2C6BED"/>
                </a:solidFill>
                <a:latin typeface="Microsoft YaHei"/>
              </a:rPr>
              <a:t>很可能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05088" y="3035808"/>
            <a:ext cx="217627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0243A"/>
                </a:solidFill>
                <a:latin typeface="Microsoft YaHei"/>
              </a:rPr>
              <a:t>多项证据一致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60920" y="3767328"/>
            <a:ext cx="3822191" cy="621792"/>
          </a:xfrm>
          <a:prstGeom prst="roundRect">
            <a:avLst/>
          </a:prstGeom>
          <a:solidFill>
            <a:srgbClr val="FFF3DC"/>
          </a:solidFill>
          <a:ln>
            <a:solidFill>
              <a:srgbClr val="FF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71231" y="3831336"/>
            <a:ext cx="1051560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2A93B"/>
                </a:solidFill>
                <a:latin typeface="Microsoft YaHei"/>
              </a:rPr>
              <a:t>可能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840480"/>
            <a:ext cx="217627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0243A"/>
                </a:solidFill>
                <a:latin typeface="Microsoft YaHei"/>
              </a:rPr>
              <a:t>仅解释部分现象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60920" y="4572000"/>
            <a:ext cx="3822191" cy="621792"/>
          </a:xfrm>
          <a:prstGeom prst="roundRect">
            <a:avLst/>
          </a:prstGeom>
          <a:solidFill>
            <a:srgbClr val="FDEBEC"/>
          </a:solidFill>
          <a:ln>
            <a:solidFill>
              <a:srgbClr val="FDEB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71231" y="4636008"/>
            <a:ext cx="1051560" cy="2651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D9534F"/>
                </a:solidFill>
                <a:latin typeface="Microsoft YaHei"/>
              </a:rPr>
              <a:t>无法判断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05088" y="4645152"/>
            <a:ext cx="217627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0243A"/>
                </a:solidFill>
                <a:latin typeface="Microsoft YaHei"/>
              </a:rPr>
              <a:t>证据不足或冲突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07 ·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数据不完整时，人和 AI 仍能继续工作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KBot 不用“猜”补齐现场，而是发起最小补证请求，并把人的输入纳入同一证据链。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47548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258568"/>
            <a:ext cx="13533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10243A"/>
                </a:solidFill>
                <a:latin typeface="Microsoft YaHei"/>
              </a:rPr>
              <a:t>发现缺口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07792"/>
            <a:ext cx="181051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627386"/>
                </a:solidFill>
                <a:latin typeface="Microsoft YaHei"/>
              </a:rPr>
              <a:t>缺少关键会话、SQL 或现场截图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2304" y="2350008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9AA8B5"/>
                </a:solidFill>
                <a:latin typeface="Microsoft YaHei"/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2779776" y="2331720"/>
            <a:ext cx="475488" cy="475488"/>
          </a:xfrm>
          <a:prstGeom prst="ellipse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331720"/>
            <a:ext cx="47548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13533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10243A"/>
                </a:solidFill>
                <a:latin typeface="Microsoft YaHei"/>
              </a:rPr>
              <a:t>提出请求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2907792"/>
            <a:ext cx="181051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627386"/>
                </a:solidFill>
                <a:latin typeface="Microsoft YaHei"/>
              </a:rPr>
              <a:t>生成范围受控的只读 SQL 或材料清单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350008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9AA8B5"/>
                </a:solidFill>
                <a:latin typeface="Microsoft YaHei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4919472" y="2331720"/>
            <a:ext cx="475488" cy="475488"/>
          </a:xfrm>
          <a:prstGeom prst="ellipse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2331720"/>
            <a:ext cx="47548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258568"/>
            <a:ext cx="13533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10243A"/>
                </a:solidFill>
                <a:latin typeface="Microsoft YaHei"/>
              </a:rPr>
              <a:t>人工补证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2907792"/>
            <a:ext cx="181051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627386"/>
                </a:solidFill>
                <a:latin typeface="Microsoft YaHei"/>
              </a:rPr>
              <a:t>用户在有权限的环境执行并回贴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2350008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9AA8B5"/>
                </a:solidFill>
                <a:latin typeface="Microsoft YaHei"/>
              </a:rPr>
              <a:t>→</a:t>
            </a:r>
          </a:p>
        </p:txBody>
      </p:sp>
      <p:sp>
        <p:nvSpPr>
          <p:cNvPr id="22" name="Oval 21"/>
          <p:cNvSpPr/>
          <p:nvPr/>
        </p:nvSpPr>
        <p:spPr>
          <a:xfrm>
            <a:off x="7059168" y="2331720"/>
            <a:ext cx="475488" cy="475488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9168" y="2331720"/>
            <a:ext cx="47548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1" y="2258568"/>
            <a:ext cx="13533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10243A"/>
                </a:solidFill>
                <a:latin typeface="Microsoft YaHei"/>
              </a:rPr>
              <a:t>继续分析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2907792"/>
            <a:ext cx="181051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627386"/>
                </a:solidFill>
                <a:latin typeface="Microsoft YaHei"/>
              </a:rPr>
              <a:t>原 Run 恢复，重新评估支持与反证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1392" y="2350008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9AA8B5"/>
                </a:solidFill>
                <a:latin typeface="Microsoft YaHei"/>
              </a:rPr>
              <a:t>→</a:t>
            </a:r>
          </a:p>
        </p:txBody>
      </p:sp>
      <p:sp>
        <p:nvSpPr>
          <p:cNvPr id="27" name="Oval 26"/>
          <p:cNvSpPr/>
          <p:nvPr/>
        </p:nvSpPr>
        <p:spPr>
          <a:xfrm>
            <a:off x="9198863" y="2331720"/>
            <a:ext cx="475488" cy="475488"/>
          </a:xfrm>
          <a:prstGeom prst="ellipse">
            <a:avLst/>
          </a:prstGeom>
          <a:solidFill>
            <a:srgbClr val="D9534F"/>
          </a:solidFill>
          <a:ln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3" y="2331720"/>
            <a:ext cx="47548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2367" y="2258568"/>
            <a:ext cx="13533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10243A"/>
                </a:solidFill>
                <a:latin typeface="Microsoft YaHei"/>
              </a:rPr>
              <a:t>受限结论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3" y="2907792"/>
            <a:ext cx="181051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627386"/>
                </a:solidFill>
                <a:latin typeface="Microsoft YaHei"/>
              </a:rPr>
              <a:t>仍不足时明确说明，不制造确定性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096512"/>
            <a:ext cx="10552176" cy="1115568"/>
          </a:xfrm>
          <a:prstGeom prst="round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4270248"/>
            <a:ext cx="301752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同一平台可配置多个私有 DBA Agent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23360" y="4279392"/>
            <a:ext cx="1417320" cy="658368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55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23360" y="4306824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核心生产库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4599432"/>
            <a:ext cx="1417320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2A93B"/>
                </a:solidFill>
                <a:latin typeface="Microsoft YaHei"/>
              </a:rPr>
              <a:t>严格策略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87568" y="4279392"/>
            <a:ext cx="1417320" cy="658368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55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87568" y="4306824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测试环境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4599432"/>
            <a:ext cx="1417320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2C6BED"/>
                </a:solidFill>
                <a:latin typeface="Microsoft YaHei"/>
              </a:rPr>
              <a:t>快速诊断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51776" y="4279392"/>
            <a:ext cx="1417320" cy="658368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55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51776" y="4306824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值班排障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6" y="4599432"/>
            <a:ext cx="1417320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00A69A"/>
                </a:solidFill>
                <a:latin typeface="Microsoft YaHei"/>
              </a:rPr>
              <a:t>告警联动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5984" y="4279392"/>
            <a:ext cx="1417320" cy="658368"/>
          </a:xfrm>
          <a:prstGeom prst="roundRect">
            <a:avLst/>
          </a:prstGeom>
          <a:solidFill>
            <a:srgbClr val="17324D"/>
          </a:solidFill>
          <a:ln w="8890">
            <a:solidFill>
              <a:srgbClr val="355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15984" y="4306824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专项巡检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15984" y="4599432"/>
            <a:ext cx="1417320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91A6B7"/>
                </a:solidFill>
                <a:latin typeface="Microsoft YaHei"/>
              </a:rPr>
              <a:t>固定范围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08 ·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让 AI 参与处置，但不让 AI 绕过责任边界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B9C8D6"/>
                </a:solidFill>
                <a:latin typeface="Microsoft YaHei"/>
              </a:rPr>
              <a:t>任何可执行动作都要通过多道治理闸门。</a:t>
            </a:r>
          </a:p>
        </p:txBody>
      </p:sp>
      <p:sp>
        <p:nvSpPr>
          <p:cNvPr id="7" name="Hexagon 6"/>
          <p:cNvSpPr/>
          <p:nvPr/>
        </p:nvSpPr>
        <p:spPr>
          <a:xfrm>
            <a:off x="594360" y="2331720"/>
            <a:ext cx="1627632" cy="1627632"/>
          </a:xfrm>
          <a:prstGeom prst="hexagon">
            <a:avLst/>
          </a:prstGeom>
          <a:solidFill>
            <a:srgbClr val="17324D"/>
          </a:solidFill>
          <a:ln w="20320"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587752"/>
            <a:ext cx="133502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授权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944368"/>
            <a:ext cx="13350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Agent 与 Target</a:t>
            </a:r>
            <a:br/>
            <a:r>
              <a:rPr sz="980" b="0">
                <a:solidFill>
                  <a:srgbClr val="B9C8D6"/>
                </a:solidFill>
                <a:latin typeface="Microsoft YaHei"/>
              </a:rPr>
              <a:t>显式绑定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852928"/>
            <a:ext cx="310896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100" b="1">
                <a:solidFill>
                  <a:srgbClr val="6C849A"/>
                </a:solidFill>
                <a:latin typeface="Microsoft YaHei"/>
              </a:rPr>
              <a:t>›</a:t>
            </a:r>
          </a:p>
        </p:txBody>
      </p:sp>
      <p:sp>
        <p:nvSpPr>
          <p:cNvPr id="11" name="Hexagon 10"/>
          <p:cNvSpPr/>
          <p:nvPr/>
        </p:nvSpPr>
        <p:spPr>
          <a:xfrm>
            <a:off x="2496312" y="2331720"/>
            <a:ext cx="1627632" cy="1627632"/>
          </a:xfrm>
          <a:prstGeom prst="hexagon">
            <a:avLst/>
          </a:prstGeom>
          <a:solidFill>
            <a:srgbClr val="17324D"/>
          </a:solidFill>
          <a:ln w="20320"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2616" y="2587752"/>
            <a:ext cx="133502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2944368"/>
            <a:ext cx="13350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环境、风险与</a:t>
            </a:r>
            <a:br/>
            <a:r>
              <a:rPr sz="980" b="0">
                <a:solidFill>
                  <a:srgbClr val="B9C8D6"/>
                </a:solidFill>
                <a:latin typeface="Microsoft YaHei"/>
              </a:rPr>
              <a:t>动作范围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2852928"/>
            <a:ext cx="310896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100" b="1">
                <a:solidFill>
                  <a:srgbClr val="6C849A"/>
                </a:solidFill>
                <a:latin typeface="Microsoft YaHei"/>
              </a:rPr>
              <a:t>›</a:t>
            </a:r>
          </a:p>
        </p:txBody>
      </p:sp>
      <p:sp>
        <p:nvSpPr>
          <p:cNvPr id="15" name="Hexagon 14"/>
          <p:cNvSpPr/>
          <p:nvPr/>
        </p:nvSpPr>
        <p:spPr>
          <a:xfrm>
            <a:off x="4398264" y="2331720"/>
            <a:ext cx="1627632" cy="1627632"/>
          </a:xfrm>
          <a:prstGeom prst="hexagon">
            <a:avLst/>
          </a:prstGeom>
          <a:solidFill>
            <a:srgbClr val="17324D"/>
          </a:solidFill>
          <a:ln w="2032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587752"/>
            <a:ext cx="133502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审批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944368"/>
            <a:ext cx="13350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每条命令</a:t>
            </a:r>
            <a:br/>
            <a:r>
              <a:rPr sz="980" b="0">
                <a:solidFill>
                  <a:srgbClr val="B9C8D6"/>
                </a:solidFill>
                <a:latin typeface="Microsoft YaHei"/>
              </a:rPr>
              <a:t>独立批准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2852928"/>
            <a:ext cx="310896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100" b="1">
                <a:solidFill>
                  <a:srgbClr val="6C849A"/>
                </a:solidFill>
                <a:latin typeface="Microsoft YaHei"/>
              </a:rPr>
              <a:t>›</a:t>
            </a:r>
          </a:p>
        </p:txBody>
      </p:sp>
      <p:sp>
        <p:nvSpPr>
          <p:cNvPr id="19" name="Hexagon 18"/>
          <p:cNvSpPr/>
          <p:nvPr/>
        </p:nvSpPr>
        <p:spPr>
          <a:xfrm>
            <a:off x="6300216" y="2331720"/>
            <a:ext cx="1627632" cy="1627632"/>
          </a:xfrm>
          <a:prstGeom prst="hexagon">
            <a:avLst/>
          </a:prstGeom>
          <a:solidFill>
            <a:srgbClr val="17324D"/>
          </a:solidFill>
          <a:ln w="20320"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587752"/>
            <a:ext cx="133502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授权令牌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944368"/>
            <a:ext cx="13350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一次性、短时、</a:t>
            </a:r>
            <a:br/>
            <a:r>
              <a:rPr sz="980" b="0">
                <a:solidFill>
                  <a:srgbClr val="B9C8D6"/>
                </a:solidFill>
                <a:latin typeface="Microsoft YaHei"/>
              </a:rPr>
              <a:t>绑定内容摘要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0416" y="2852928"/>
            <a:ext cx="310896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100" b="1">
                <a:solidFill>
                  <a:srgbClr val="6C849A"/>
                </a:solidFill>
                <a:latin typeface="Microsoft YaHei"/>
              </a:rPr>
              <a:t>›</a:t>
            </a:r>
          </a:p>
        </p:txBody>
      </p:sp>
      <p:sp>
        <p:nvSpPr>
          <p:cNvPr id="23" name="Hexagon 22"/>
          <p:cNvSpPr/>
          <p:nvPr/>
        </p:nvSpPr>
        <p:spPr>
          <a:xfrm>
            <a:off x="8202168" y="2331720"/>
            <a:ext cx="1627632" cy="1627632"/>
          </a:xfrm>
          <a:prstGeom prst="hexagon">
            <a:avLst/>
          </a:prstGeom>
          <a:solidFill>
            <a:srgbClr val="17324D"/>
          </a:solidFill>
          <a:ln w="2032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8472" y="2587752"/>
            <a:ext cx="133502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执行复核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2944368"/>
            <a:ext cx="13350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模板、参数与</a:t>
            </a:r>
            <a:br/>
            <a:r>
              <a:rPr sz="980" b="0">
                <a:solidFill>
                  <a:srgbClr val="B9C8D6"/>
                </a:solidFill>
                <a:latin typeface="Microsoft YaHei"/>
              </a:rPr>
              <a:t>前置条件校验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8" y="2852928"/>
            <a:ext cx="310896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100" b="1">
                <a:solidFill>
                  <a:srgbClr val="6C849A"/>
                </a:solidFill>
                <a:latin typeface="Microsoft YaHei"/>
              </a:rPr>
              <a:t>›</a:t>
            </a:r>
          </a:p>
        </p:txBody>
      </p:sp>
      <p:sp>
        <p:nvSpPr>
          <p:cNvPr id="27" name="Hexagon 26"/>
          <p:cNvSpPr/>
          <p:nvPr/>
        </p:nvSpPr>
        <p:spPr>
          <a:xfrm>
            <a:off x="10104120" y="2331720"/>
            <a:ext cx="1627632" cy="1627632"/>
          </a:xfrm>
          <a:prstGeom prst="hexagon">
            <a:avLst/>
          </a:prstGeom>
          <a:solidFill>
            <a:srgbClr val="17324D"/>
          </a:solidFill>
          <a:ln w="20320"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0424" y="2587752"/>
            <a:ext cx="133502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效果验证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0424" y="2944368"/>
            <a:ext cx="13350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同口径采集</a:t>
            </a:r>
            <a:br/>
            <a:r>
              <a:rPr sz="980" b="0">
                <a:solidFill>
                  <a:srgbClr val="B9C8D6"/>
                </a:solidFill>
                <a:latin typeface="Microsoft YaHei"/>
              </a:rPr>
              <a:t>主指标与护栏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4526280"/>
            <a:ext cx="10222992" cy="896112"/>
          </a:xfrm>
          <a:prstGeom prst="roundRect">
            <a:avLst/>
          </a:prstGeom>
          <a:solidFill>
            <a:srgbClr val="1E4662"/>
          </a:solidFill>
          <a:ln w="8890">
            <a:solidFill>
              <a:srgbClr val="2C6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4700016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00A69A"/>
                </a:solidFill>
                <a:latin typeface="Microsoft YaHei"/>
              </a:rPr>
              <a:t>已登记动作示例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15184" y="4626864"/>
            <a:ext cx="8028431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/>
              </a:rPr>
              <a:t>会话控制 · 索引与统计维护 · Scheduler · 存储增长 · 动态参数 · 受限权限维护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687568"/>
            <a:ext cx="99669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>
                <a:solidFill>
                  <a:srgbClr val="AFC0CE"/>
                </a:solidFill>
                <a:latin typeface="Microsoft YaHei"/>
              </a:rPr>
              <a:t>PostgreSQL 当前以只读诊断为主；破坏性动作保持人工执行或不支持。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B9C8D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6473952"/>
            <a:ext cx="699516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750" b="0">
                <a:solidFill>
                  <a:srgbClr val="B9C8D6"/>
                </a:solidFill>
                <a:latin typeface="Microsoft YaHei"/>
              </a:rPr>
              <a:t>实际可执行范围以 Action Catalog、授权与部署开关为准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B9C8D6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09 ·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每次处理都会留下可交付、可复盘的结果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报告不是 AI 临时作文，而是从已保存的事实、证据、审批与验证结果生成。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12848"/>
            <a:ext cx="190195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2212848"/>
            <a:ext cx="1901952" cy="91440"/>
          </a:xfrm>
          <a:prstGeom prst="rect">
            <a:avLst/>
          </a:prstGeom>
          <a:solidFill>
            <a:srgbClr val="D9534F"/>
          </a:solidFill>
          <a:ln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487168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50" b="1">
                <a:solidFill>
                  <a:srgbClr val="10243A"/>
                </a:solidFill>
                <a:latin typeface="Microsoft YaHei"/>
              </a:rPr>
              <a:t>故障报告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44368"/>
            <a:ext cx="15727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30" b="0">
                <a:solidFill>
                  <a:srgbClr val="627386"/>
                </a:solidFill>
                <a:latin typeface="Microsoft YaHei"/>
              </a:rPr>
              <a:t>时间线 · 影响 · 根因 · 处置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212848"/>
            <a:ext cx="190195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2212848"/>
            <a:ext cx="1901952" cy="91440"/>
          </a:xfrm>
          <a:prstGeom prst="rect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487168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50" b="1">
                <a:solidFill>
                  <a:srgbClr val="10243A"/>
                </a:solidFill>
                <a:latin typeface="Microsoft YaHei"/>
              </a:rPr>
              <a:t>性能报告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2944368"/>
            <a:ext cx="15727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30" b="0">
                <a:solidFill>
                  <a:srgbClr val="627386"/>
                </a:solidFill>
                <a:latin typeface="Microsoft YaHei"/>
              </a:rPr>
              <a:t>瓶颈 · 关键指标 · 优化建议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6048" y="2212848"/>
            <a:ext cx="190195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6048" y="2212848"/>
            <a:ext cx="1901952" cy="914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487168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50" b="1">
                <a:solidFill>
                  <a:srgbClr val="10243A"/>
                </a:solidFill>
                <a:latin typeface="Microsoft YaHei"/>
              </a:rPr>
              <a:t>巡检报告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944368"/>
            <a:ext cx="15727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30" b="0">
                <a:solidFill>
                  <a:srgbClr val="627386"/>
                </a:solidFill>
                <a:latin typeface="Microsoft YaHei"/>
              </a:rPr>
              <a:t>健康状态 · 风险 · 待办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23176" y="2212848"/>
            <a:ext cx="190195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23176" y="2212848"/>
            <a:ext cx="1901952" cy="914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768" y="2487168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50" b="1">
                <a:solidFill>
                  <a:srgbClr val="10243A"/>
                </a:solidFill>
                <a:latin typeface="Microsoft YaHei"/>
              </a:rPr>
              <a:t>工作负载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7768" y="2944368"/>
            <a:ext cx="15727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30" b="0">
                <a:solidFill>
                  <a:srgbClr val="627386"/>
                </a:solidFill>
                <a:latin typeface="Microsoft YaHei"/>
              </a:rPr>
              <a:t>AWR / ASH / Workload / Diff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90304" y="2212848"/>
            <a:ext cx="190195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0304" y="2212848"/>
            <a:ext cx="1901952" cy="91440"/>
          </a:xfrm>
          <a:prstGeom prst="rect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4896" y="2487168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50" b="1">
                <a:solidFill>
                  <a:srgbClr val="10243A"/>
                </a:solidFill>
                <a:latin typeface="Microsoft YaHei"/>
              </a:rPr>
              <a:t>前后对比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944368"/>
            <a:ext cx="15727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30" b="0">
                <a:solidFill>
                  <a:srgbClr val="627386"/>
                </a:solidFill>
                <a:latin typeface="Microsoft YaHei"/>
              </a:rPr>
              <a:t>主指标 · 护栏 · 最终结论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70248"/>
            <a:ext cx="228600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Microsoft YaHei"/>
              </a:rPr>
              <a:t>对客户的业务价值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" y="4773168"/>
            <a:ext cx="438912" cy="438912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773168"/>
            <a:ext cx="4389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43584" y="4681728"/>
            <a:ext cx="260604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20" b="1">
                <a:solidFill>
                  <a:srgbClr val="10243A"/>
                </a:solidFill>
                <a:latin typeface="Microsoft YaHei"/>
              </a:rPr>
              <a:t>更快进入有效分析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" y="5065776"/>
            <a:ext cx="27432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0">
                <a:solidFill>
                  <a:srgbClr val="627386"/>
                </a:solidFill>
                <a:latin typeface="Microsoft YaHei"/>
              </a:rPr>
              <a:t>少在工具之间搬运数据，把时间用于判断。</a:t>
            </a:r>
          </a:p>
        </p:txBody>
      </p:sp>
      <p:sp>
        <p:nvSpPr>
          <p:cNvPr id="32" name="Oval 31"/>
          <p:cNvSpPr/>
          <p:nvPr/>
        </p:nvSpPr>
        <p:spPr>
          <a:xfrm>
            <a:off x="4315968" y="4773168"/>
            <a:ext cx="438912" cy="438912"/>
          </a:xfrm>
          <a:prstGeom prst="ellipse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4773168"/>
            <a:ext cx="4389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1183" y="4681728"/>
            <a:ext cx="260604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20" b="1">
                <a:solidFill>
                  <a:srgbClr val="10243A"/>
                </a:solidFill>
                <a:latin typeface="Microsoft YaHei"/>
              </a:rPr>
              <a:t>把专家经验变成流程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1183" y="5065776"/>
            <a:ext cx="27432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0">
                <a:solidFill>
                  <a:srgbClr val="627386"/>
                </a:solidFill>
                <a:latin typeface="Microsoft YaHei"/>
              </a:rPr>
              <a:t>诊断工具、Playbook 和证据规则可以持续复用。</a:t>
            </a:r>
          </a:p>
        </p:txBody>
      </p:sp>
      <p:sp>
        <p:nvSpPr>
          <p:cNvPr id="36" name="Oval 35"/>
          <p:cNvSpPr/>
          <p:nvPr/>
        </p:nvSpPr>
        <p:spPr>
          <a:xfrm>
            <a:off x="7973568" y="4773168"/>
            <a:ext cx="438912" cy="438912"/>
          </a:xfrm>
          <a:prstGeom prst="ellipse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73568" y="4773168"/>
            <a:ext cx="4389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4681728"/>
            <a:ext cx="260604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420" b="1">
                <a:solidFill>
                  <a:srgbClr val="10243A"/>
                </a:solidFill>
                <a:latin typeface="Microsoft YaHei"/>
              </a:rPr>
              <a:t>让每次行动可解释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8784" y="5065776"/>
            <a:ext cx="27432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0">
                <a:solidFill>
                  <a:srgbClr val="627386"/>
                </a:solidFill>
                <a:latin typeface="Microsoft YaHei"/>
              </a:rPr>
              <a:t>谁判断、谁批准、执行了什么、是否改善，都有记录。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10 ·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单机一体化起步，按规模平滑拆分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下图是面向 PoC 与中小规模生产的推荐方案；模型走 API 或独立推理节点。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2139696"/>
            <a:ext cx="1481328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86000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0243A"/>
                </a:solidFill>
                <a:latin typeface="Microsoft YaHei"/>
              </a:rPr>
              <a:t>客户用户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615184"/>
            <a:ext cx="11430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0">
                <a:solidFill>
                  <a:srgbClr val="627386"/>
                </a:solidFill>
                <a:latin typeface="Microsoft YaHei"/>
              </a:rPr>
              <a:t>浏览器 / 销售演示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2423160"/>
            <a:ext cx="41148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2C6BED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42032" y="1993392"/>
            <a:ext cx="5989320" cy="318211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88920" y="2139696"/>
            <a:ext cx="2130552" cy="310896"/>
          </a:xfrm>
          <a:prstGeom prst="roundRect">
            <a:avLst/>
          </a:prstGeom>
          <a:solidFill>
            <a:srgbClr val="10243A"/>
          </a:solidFill>
          <a:ln w="6350"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139696"/>
            <a:ext cx="2130552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一台 Linux x86_64 服务器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670048"/>
            <a:ext cx="1627632" cy="877824"/>
          </a:xfrm>
          <a:prstGeom prst="roundRect">
            <a:avLst/>
          </a:prstGeom>
          <a:solidFill>
            <a:srgbClr val="E9F0FF"/>
          </a:solidFill>
          <a:ln>
            <a:solidFill>
              <a:srgbClr val="E9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74320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2C6BED"/>
                </a:solidFill>
                <a:latin typeface="Microsoft YaHei"/>
              </a:rPr>
              <a:t>入口层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999232"/>
            <a:ext cx="1444752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69" b="0">
                <a:solidFill>
                  <a:srgbClr val="10243A"/>
                </a:solidFill>
                <a:latin typeface="Microsoft YaHei"/>
              </a:rPr>
              <a:t>Nginx / TLS</a:t>
            </a:r>
            <a:br/>
            <a:r>
              <a:rPr sz="869" b="0">
                <a:solidFill>
                  <a:srgbClr val="10243A"/>
                </a:solidFill>
                <a:latin typeface="Microsoft YaHei"/>
              </a:rPr>
              <a:t>ORDS + Oracle APEX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70048"/>
            <a:ext cx="1627632" cy="877824"/>
          </a:xfrm>
          <a:prstGeom prst="roundRect">
            <a:avLst/>
          </a:prstGeom>
          <a:solidFill>
            <a:srgbClr val="FFF3DC"/>
          </a:solidFill>
          <a:ln>
            <a:solidFill>
              <a:srgbClr val="FF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274320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2A93B"/>
                </a:solidFill>
                <a:latin typeface="Microsoft YaHei"/>
              </a:rPr>
              <a:t>数据层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2999232"/>
            <a:ext cx="1444752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69" b="0">
                <a:solidFill>
                  <a:srgbClr val="10243A"/>
                </a:solidFill>
                <a:latin typeface="Microsoft YaHei"/>
              </a:rPr>
              <a:t>Oracle Database 26ai</a:t>
            </a:r>
            <a:br/>
            <a:r>
              <a:rPr sz="869" b="0">
                <a:solidFill>
                  <a:srgbClr val="10243A"/>
                </a:solidFill>
                <a:latin typeface="Microsoft YaHei"/>
              </a:rPr>
              <a:t>KBot Schema / 审计事实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670048"/>
            <a:ext cx="1627632" cy="877824"/>
          </a:xfrm>
          <a:prstGeom prst="roundRect">
            <a:avLst/>
          </a:prstGeom>
          <a:solidFill>
            <a:srgbClr val="E5F7F4"/>
          </a:solidFill>
          <a:ln>
            <a:solidFill>
              <a:srgbClr val="E5F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74320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0A69A"/>
                </a:solidFill>
                <a:latin typeface="Microsoft YaHei"/>
              </a:rPr>
              <a:t>应用层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999232"/>
            <a:ext cx="1444752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69" b="0">
                <a:solidFill>
                  <a:srgbClr val="10243A"/>
                </a:solidFill>
                <a:latin typeface="Microsoft YaHei"/>
              </a:rPr>
              <a:t>Python 3.10+ / FastAPI</a:t>
            </a:r>
            <a:br/>
            <a:r>
              <a:rPr sz="869" b="0">
                <a:solidFill>
                  <a:srgbClr val="10243A"/>
                </a:solidFill>
                <a:latin typeface="Microsoft YaHei"/>
              </a:rPr>
              <a:t>KBot API · Worker · Scheduler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88920" y="3840480"/>
            <a:ext cx="1627632" cy="877824"/>
          </a:xfrm>
          <a:prstGeom prst="roundRect">
            <a:avLst/>
          </a:prstGeom>
          <a:solidFill>
            <a:srgbClr val="EDF2F6"/>
          </a:solidFill>
          <a:ln>
            <a:solidFill>
              <a:srgbClr val="ED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3913632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627386"/>
                </a:solidFill>
                <a:latin typeface="Microsoft YaHei"/>
              </a:rPr>
              <a:t>可选观测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4169664"/>
            <a:ext cx="1444752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69" b="0">
                <a:solidFill>
                  <a:srgbClr val="10243A"/>
                </a:solidFill>
                <a:latin typeface="Microsoft YaHei"/>
              </a:rPr>
              <a:t>Prometheus · Loki · Alloy</a:t>
            </a:r>
            <a:br/>
            <a:r>
              <a:rPr sz="869" b="0">
                <a:solidFill>
                  <a:srgbClr val="10243A"/>
                </a:solidFill>
                <a:latin typeface="Microsoft YaHei"/>
              </a:rPr>
              <a:t>Exporter / Collector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3840480"/>
            <a:ext cx="1627632" cy="877824"/>
          </a:xfrm>
          <a:prstGeom prst="roundRect">
            <a:avLst/>
          </a:prstGeom>
          <a:solidFill>
            <a:srgbClr val="E9F0FF"/>
          </a:solidFill>
          <a:ln>
            <a:solidFill>
              <a:srgbClr val="E9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79" y="3913632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2C6BED"/>
                </a:solidFill>
                <a:latin typeface="Microsoft YaHei"/>
              </a:rPr>
              <a:t>模型接入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79" y="4169664"/>
            <a:ext cx="1444752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69" b="0">
                <a:solidFill>
                  <a:srgbClr val="10243A"/>
                </a:solidFill>
                <a:latin typeface="Microsoft YaHei"/>
              </a:rPr>
              <a:t>本地 OCR / Embedding</a:t>
            </a:r>
            <a:br/>
            <a:r>
              <a:rPr sz="869" b="0">
                <a:solidFill>
                  <a:srgbClr val="10243A"/>
                </a:solidFill>
                <a:latin typeface="Microsoft YaHei"/>
              </a:rPr>
              <a:t>近端 DeepSeek 或云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3840480"/>
            <a:ext cx="1627632" cy="877824"/>
          </a:xfrm>
          <a:prstGeom prst="roundRect">
            <a:avLst/>
          </a:prstGeom>
          <a:solidFill>
            <a:srgbClr val="EDF2F6"/>
          </a:solidFill>
          <a:ln>
            <a:solidFill>
              <a:srgbClr val="ED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3913632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627386"/>
                </a:solidFill>
                <a:latin typeface="Microsoft YaHei"/>
              </a:rPr>
              <a:t>安全运维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169664"/>
            <a:ext cx="1444752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69" b="0">
                <a:solidFill>
                  <a:srgbClr val="10243A"/>
                </a:solidFill>
                <a:latin typeface="Microsoft YaHei"/>
              </a:rPr>
              <a:t>Secret · 最小权限</a:t>
            </a:r>
            <a:br/>
            <a:r>
              <a:rPr sz="869" b="0">
                <a:solidFill>
                  <a:srgbClr val="10243A"/>
                </a:solidFill>
                <a:latin typeface="Microsoft YaHei"/>
              </a:rPr>
              <a:t>日志 · 备份 · 进程编排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13648" y="2487168"/>
            <a:ext cx="41148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00A69A"/>
                </a:solidFill>
                <a:latin typeface="Microsoft YaHe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70848" y="1956816"/>
            <a:ext cx="2432304" cy="14081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8592" y="2139696"/>
            <a:ext cx="193852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0243A"/>
                </a:solidFill>
                <a:latin typeface="Microsoft YaHei"/>
              </a:rPr>
              <a:t>运维目标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08592" y="2542032"/>
            <a:ext cx="193852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627386"/>
                </a:solidFill>
                <a:latin typeface="Microsoft YaHei"/>
              </a:rPr>
              <a:t>Oracle 19c / 26ai</a:t>
            </a:r>
            <a:br/>
            <a:r>
              <a:rPr sz="1050" b="0">
                <a:solidFill>
                  <a:srgbClr val="627386"/>
                </a:solidFill>
                <a:latin typeface="Microsoft YaHei"/>
              </a:rPr>
              <a:t>MySQL 8.4 · PostgreSQL 16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70848" y="3767328"/>
            <a:ext cx="2432304" cy="14081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08592" y="3941063"/>
            <a:ext cx="193852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0243A"/>
                </a:solidFill>
                <a:latin typeface="Microsoft YaHei"/>
              </a:rPr>
              <a:t>外部服务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08592" y="4325112"/>
            <a:ext cx="193852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19" b="0">
                <a:solidFill>
                  <a:srgbClr val="627386"/>
                </a:solidFill>
                <a:latin typeface="Microsoft YaHei"/>
              </a:rPr>
              <a:t>Prometheus / Zabbix / OEM</a:t>
            </a:r>
            <a:br/>
            <a:r>
              <a:rPr sz="1019" b="0">
                <a:solidFill>
                  <a:srgbClr val="627386"/>
                </a:solidFill>
                <a:latin typeface="Microsoft YaHei"/>
              </a:rPr>
              <a:t>OCI / 模型 API / 近端推理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" y="5449824"/>
            <a:ext cx="10899648" cy="658368"/>
          </a:xfrm>
          <a:prstGeom prst="round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5513832"/>
            <a:ext cx="1389888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16 vCPU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5532120"/>
            <a:ext cx="100584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AFC0CE"/>
                </a:solidFill>
                <a:latin typeface="Microsoft YaHei"/>
              </a:rPr>
              <a:t>计算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79" y="5513832"/>
            <a:ext cx="1389888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64 GB RAM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79" y="5532120"/>
            <a:ext cx="100584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AFC0CE"/>
                </a:solidFill>
                <a:latin typeface="Microsoft YaHei"/>
              </a:rPr>
              <a:t>内存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25312" y="5513832"/>
            <a:ext cx="1389888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1 TB NVMe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96912" y="5532120"/>
            <a:ext cx="100584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AFC0CE"/>
                </a:solidFill>
                <a:latin typeface="Microsoft YaHei"/>
              </a:rPr>
              <a:t>存储起步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5513832"/>
            <a:ext cx="1389888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GPU 可选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38944" y="5532120"/>
            <a:ext cx="100584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AFC0CE"/>
                </a:solidFill>
                <a:latin typeface="Microsoft YaHei"/>
              </a:rPr>
              <a:t>大模型建议独立节点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163056"/>
            <a:ext cx="10698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0">
                <a:solidFill>
                  <a:srgbClr val="627386"/>
                </a:solidFill>
                <a:latin typeface="Microsoft YaHei"/>
              </a:rPr>
              <a:t>推荐起步配置；高可用、大规模目标或本地大模型应拆分数据库、应用、观测与推理节点。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9080" y="6473952"/>
            <a:ext cx="699516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750" b="0">
                <a:solidFill>
                  <a:srgbClr val="627386"/>
                </a:solidFill>
                <a:latin typeface="Microsoft YaHei"/>
              </a:rPr>
              <a:t>硬件规格为项目建议，不是代码声明的最低要求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10243A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11 ·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10243A"/>
                </a:solidFill>
                <a:latin typeface="Microsoft YaHei"/>
              </a:rPr>
              <a:t>KBot 支持的模型与接入方式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27386"/>
                </a:solidFill>
                <a:latin typeface="Microsoft YaHei"/>
              </a:rPr>
              <a:t>模型目录默认不预置业务模型；实际启用项由客户部署后的 Model Catalog 决定。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103120"/>
            <a:ext cx="1353312" cy="457200"/>
          </a:xfrm>
          <a:prstGeom prst="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1261872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能力类别</a:t>
            </a:r>
          </a:p>
        </p:txBody>
      </p:sp>
      <p:sp>
        <p:nvSpPr>
          <p:cNvPr id="9" name="Rectangle 8"/>
          <p:cNvSpPr/>
          <p:nvPr/>
        </p:nvSpPr>
        <p:spPr>
          <a:xfrm>
            <a:off x="2084831" y="2103120"/>
            <a:ext cx="4709160" cy="457200"/>
          </a:xfrm>
          <a:prstGeom prst="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0551" y="2103120"/>
            <a:ext cx="461772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支持的模型 / Provider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2103120"/>
            <a:ext cx="2121408" cy="457200"/>
          </a:xfrm>
          <a:prstGeom prst="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103120"/>
            <a:ext cx="2029967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接入形态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2103120"/>
            <a:ext cx="2084831" cy="457200"/>
          </a:xfrm>
          <a:prstGeom prst="rect">
            <a:avLst/>
          </a:prstGeom>
          <a:solidFill>
            <a:srgbClr val="10243A"/>
          </a:solidFill>
          <a:ln>
            <a:solidFill>
              <a:srgbClr val="10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2103120"/>
            <a:ext cx="1993391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开放性说明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2560320"/>
            <a:ext cx="1353312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4831" y="2560320"/>
            <a:ext cx="4709160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03720" y="2560320"/>
            <a:ext cx="2121408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2560320"/>
            <a:ext cx="2084831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6384" y="2734056"/>
            <a:ext cx="1024128" cy="310896"/>
          </a:xfrm>
          <a:prstGeom prst="roundRect">
            <a:avLst/>
          </a:prstGeom>
          <a:solidFill>
            <a:srgbClr val="00A69A"/>
          </a:solidFill>
          <a:ln w="6350"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734056"/>
            <a:ext cx="102412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1136" y="2615184"/>
            <a:ext cx="44348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30" b="1">
                <a:solidFill>
                  <a:srgbClr val="10243A"/>
                </a:solidFill>
                <a:latin typeface="Microsoft YaHei"/>
              </a:rPr>
              <a:t>DeepSeek 近端 / DeepSeek API / Qwen API / ChatGPT / OCI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2606039"/>
            <a:ext cx="1938527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80" b="0">
                <a:solidFill>
                  <a:srgbClr val="627386"/>
                </a:solidFill>
                <a:latin typeface="Microsoft YaHei"/>
              </a:rPr>
              <a:t>近端 API</a:t>
            </a:r>
            <a:br/>
            <a:r>
              <a:rPr sz="980" b="0">
                <a:solidFill>
                  <a:srgbClr val="627386"/>
                </a:solidFill>
                <a:latin typeface="Microsoft YaHei"/>
              </a:rPr>
              <a:t>云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606039"/>
            <a:ext cx="1901951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0">
                <a:solidFill>
                  <a:srgbClr val="627386"/>
                </a:solidFill>
                <a:latin typeface="Microsoft YaHei"/>
              </a:rPr>
              <a:t>开放权重近端</a:t>
            </a:r>
            <a:br/>
            <a:r>
              <a:rPr sz="950" b="0">
                <a:solidFill>
                  <a:srgbClr val="627386"/>
                </a:solidFill>
                <a:latin typeface="Microsoft YaHei"/>
              </a:rPr>
              <a:t>+ 闭源服务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3218687"/>
            <a:ext cx="1353312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84831" y="3218687"/>
            <a:ext cx="4709160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3218687"/>
            <a:ext cx="2121408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3218687"/>
            <a:ext cx="2084831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86384" y="3392423"/>
            <a:ext cx="1024128" cy="310896"/>
          </a:xfrm>
          <a:prstGeom prst="roundRect">
            <a:avLst/>
          </a:prstGeom>
          <a:solidFill>
            <a:srgbClr val="2C6BED"/>
          </a:solidFill>
          <a:ln w="6350"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3392423"/>
            <a:ext cx="102412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文本向量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1136" y="3273551"/>
            <a:ext cx="44348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30" b="1">
                <a:solidFill>
                  <a:srgbClr val="10243A"/>
                </a:solidFill>
                <a:latin typeface="Microsoft YaHei"/>
              </a:rPr>
              <a:t>BGE Local / Qwen3 Embedding Local / Qwen API / OpenAI / OCI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3264407"/>
            <a:ext cx="1938527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80" b="0">
                <a:solidFill>
                  <a:srgbClr val="627386"/>
                </a:solidFill>
                <a:latin typeface="Microsoft YaHei"/>
              </a:rPr>
              <a:t>本地加载</a:t>
            </a:r>
            <a:br/>
            <a:r>
              <a:rPr sz="980" b="0">
                <a:solidFill>
                  <a:srgbClr val="627386"/>
                </a:solidFill>
                <a:latin typeface="Microsoft YaHei"/>
              </a:rPr>
              <a:t>云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264407"/>
            <a:ext cx="1901951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0">
                <a:solidFill>
                  <a:srgbClr val="627386"/>
                </a:solidFill>
                <a:latin typeface="Microsoft YaHei"/>
              </a:rPr>
              <a:t>开源或开放权重</a:t>
            </a:r>
            <a:br/>
            <a:r>
              <a:rPr sz="950" b="0">
                <a:solidFill>
                  <a:srgbClr val="627386"/>
                </a:solidFill>
                <a:latin typeface="Microsoft YaHei"/>
              </a:rPr>
              <a:t>+ 闭源服务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" y="3877055"/>
            <a:ext cx="1353312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84831" y="3877055"/>
            <a:ext cx="4709160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3720" y="3877055"/>
            <a:ext cx="2121408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0" y="3877055"/>
            <a:ext cx="2084831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6384" y="4050791"/>
            <a:ext cx="1024128" cy="310896"/>
          </a:xfrm>
          <a:prstGeom prst="roundRect">
            <a:avLst/>
          </a:prstGeom>
          <a:solidFill>
            <a:srgbClr val="F2A93B"/>
          </a:solidFill>
          <a:ln w="635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4050791"/>
            <a:ext cx="102412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视觉向量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3931919"/>
            <a:ext cx="44348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30" b="1">
                <a:solidFill>
                  <a:srgbClr val="10243A"/>
                </a:solidFill>
                <a:latin typeface="Microsoft YaHei"/>
              </a:rPr>
              <a:t>ColQwen2 Local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59" y="3922775"/>
            <a:ext cx="1938527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80" b="0">
                <a:solidFill>
                  <a:srgbClr val="627386"/>
                </a:solidFill>
                <a:latin typeface="Microsoft YaHei"/>
              </a:rPr>
              <a:t>本地加载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3922775"/>
            <a:ext cx="1901951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0">
                <a:solidFill>
                  <a:srgbClr val="627386"/>
                </a:solidFill>
                <a:latin typeface="Microsoft YaHei"/>
              </a:rPr>
              <a:t>开放权重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" y="4535423"/>
            <a:ext cx="1353312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84831" y="4535423"/>
            <a:ext cx="4709160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03720" y="4535423"/>
            <a:ext cx="2121408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4535423"/>
            <a:ext cx="2084831" cy="658368"/>
          </a:xfrm>
          <a:prstGeom prst="rect">
            <a:avLst/>
          </a:prstGeom>
          <a:solidFill>
            <a:srgbClr val="EDF2F6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86384" y="4709159"/>
            <a:ext cx="1024128" cy="310896"/>
          </a:xfrm>
          <a:prstGeom prst="roundRect">
            <a:avLst/>
          </a:prstGeom>
          <a:solidFill>
            <a:srgbClr val="2C6BED"/>
          </a:solidFill>
          <a:ln w="6350"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4709159"/>
            <a:ext cx="102412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VLM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31136" y="4590287"/>
            <a:ext cx="44348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30" b="1">
                <a:solidFill>
                  <a:srgbClr val="10243A"/>
                </a:solidFill>
                <a:latin typeface="Microsoft YaHei"/>
              </a:rPr>
              <a:t>Qwen-VL API / GPT-4V 兼容接口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4581143"/>
            <a:ext cx="1938527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80" b="0">
                <a:solidFill>
                  <a:srgbClr val="627386"/>
                </a:solidFill>
                <a:latin typeface="Microsoft YaHei"/>
              </a:rPr>
              <a:t>云 API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581143"/>
            <a:ext cx="1901951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0">
                <a:solidFill>
                  <a:srgbClr val="627386"/>
                </a:solidFill>
                <a:latin typeface="Microsoft YaHei"/>
              </a:rPr>
              <a:t>API 服务；</a:t>
            </a:r>
            <a:br/>
            <a:r>
              <a:rPr sz="950" b="0">
                <a:solidFill>
                  <a:srgbClr val="627386"/>
                </a:solidFill>
                <a:latin typeface="Microsoft YaHei"/>
              </a:rPr>
              <a:t>GPT 为闭源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" y="5193791"/>
            <a:ext cx="1353312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4831" y="5193791"/>
            <a:ext cx="4709160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03720" y="5193791"/>
            <a:ext cx="2121408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44000" y="5193791"/>
            <a:ext cx="2084831" cy="658368"/>
          </a:xfrm>
          <a:prstGeom prst="rect">
            <a:avLst/>
          </a:prstGeom>
          <a:solidFill>
            <a:srgbClr val="FFFFFF"/>
          </a:solidFill>
          <a:ln w="6985">
            <a:solidFill>
              <a:srgbClr val="D8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86384" y="5367527"/>
            <a:ext cx="1024128" cy="310896"/>
          </a:xfrm>
          <a:prstGeom prst="roundRect">
            <a:avLst/>
          </a:prstGeom>
          <a:solidFill>
            <a:srgbClr val="00A69A"/>
          </a:solidFill>
          <a:ln w="6350"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5367527"/>
            <a:ext cx="102412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OCR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31136" y="5248655"/>
            <a:ext cx="4434840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30" b="1">
                <a:solidFill>
                  <a:srgbClr val="10243A"/>
                </a:solidFill>
                <a:latin typeface="Microsoft YaHei"/>
              </a:rPr>
              <a:t>RapidOCR / EasyOCR / Tesseract / DeepSeek OCR API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59" y="5239511"/>
            <a:ext cx="1938527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80" b="0">
                <a:solidFill>
                  <a:srgbClr val="627386"/>
                </a:solidFill>
                <a:latin typeface="Microsoft YaHei"/>
              </a:rPr>
              <a:t>本地引擎</a:t>
            </a:r>
            <a:br/>
            <a:r>
              <a:rPr sz="980" b="0">
                <a:solidFill>
                  <a:srgbClr val="627386"/>
                </a:solidFill>
                <a:latin typeface="Microsoft YaHei"/>
              </a:rPr>
              <a:t>云 API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5440" y="5239511"/>
            <a:ext cx="1901951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0">
                <a:solidFill>
                  <a:srgbClr val="627386"/>
                </a:solidFill>
                <a:latin typeface="Microsoft YaHei"/>
              </a:rPr>
              <a:t>开源本地</a:t>
            </a:r>
            <a:br/>
            <a:r>
              <a:rPr sz="950" b="0">
                <a:solidFill>
                  <a:srgbClr val="627386"/>
                </a:solidFill>
                <a:latin typeface="Microsoft YaHei"/>
              </a:rPr>
              <a:t>+ API 服务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" y="6053328"/>
            <a:ext cx="10607040" cy="310896"/>
          </a:xfrm>
          <a:prstGeom prst="roundRect">
            <a:avLst/>
          </a:prstGeom>
          <a:solidFill>
            <a:srgbClr val="FFF3DC"/>
          </a:solidFill>
          <a:ln>
            <a:solidFill>
              <a:srgbClr val="FF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6053328"/>
            <a:ext cx="10222992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19" b="1">
                <a:solidFill>
                  <a:srgbClr val="10243A"/>
                </a:solidFill>
                <a:latin typeface="Microsoft YaHei"/>
              </a:rPr>
              <a:t>AIOps 生产规划/诊断模型要求客户近端 DeepSeek 服务；本地大模型推理建议部署在独立 GPU 节点。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62738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6473952"/>
            <a:ext cx="699516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750" b="0">
                <a:solidFill>
                  <a:srgbClr val="627386"/>
                </a:solidFill>
                <a:latin typeface="Microsoft YaHei"/>
              </a:rPr>
              <a:t>来源：Model Serving Provider Catalog（2026-10-12）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627386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320040"/>
          </a:xfrm>
          <a:prstGeom prst="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82296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KBot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00A69A"/>
                </a:solidFill>
                <a:latin typeface="Microsoft YaHei"/>
              </a:rPr>
              <a:t>12 · BUSINESS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078992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一次阻塞告警，如何变成可验证的处理结果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64208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B9C8D6"/>
                </a:solidFill>
                <a:latin typeface="Microsoft YaHei"/>
              </a:rPr>
              <a:t>用一个完整故事理解 KBot AIOps 的客户价值。</a:t>
            </a:r>
          </a:p>
        </p:txBody>
      </p:sp>
      <p:sp>
        <p:nvSpPr>
          <p:cNvPr id="7" name="Oval 6"/>
          <p:cNvSpPr/>
          <p:nvPr/>
        </p:nvSpPr>
        <p:spPr>
          <a:xfrm>
            <a:off x="1069848" y="2350008"/>
            <a:ext cx="566928" cy="566928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350008"/>
            <a:ext cx="5669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36776" y="2633472"/>
            <a:ext cx="923544" cy="0"/>
          </a:xfrm>
          <a:prstGeom prst="line">
            <a:avLst/>
          </a:prstGeom>
          <a:ln w="20320">
            <a:solidFill>
              <a:srgbClr val="5F78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928" y="3090672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告警进入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29584"/>
            <a:ext cx="1572768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监控事件验签、映射、去重</a:t>
            </a:r>
          </a:p>
        </p:txBody>
      </p:sp>
      <p:sp>
        <p:nvSpPr>
          <p:cNvPr id="12" name="Oval 11"/>
          <p:cNvSpPr/>
          <p:nvPr/>
        </p:nvSpPr>
        <p:spPr>
          <a:xfrm>
            <a:off x="2980944" y="2350008"/>
            <a:ext cx="566928" cy="566928"/>
          </a:xfrm>
          <a:prstGeom prst="ellipse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0944" y="2350008"/>
            <a:ext cx="5669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47872" y="2633472"/>
            <a:ext cx="923544" cy="0"/>
          </a:xfrm>
          <a:prstGeom prst="line">
            <a:avLst/>
          </a:prstGeom>
          <a:ln w="20320">
            <a:solidFill>
              <a:srgbClr val="5F78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478024" y="3090672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自动取证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78024" y="3529584"/>
            <a:ext cx="1572768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阻塞链、活动会话与指标时间线</a:t>
            </a:r>
          </a:p>
        </p:txBody>
      </p:sp>
      <p:sp>
        <p:nvSpPr>
          <p:cNvPr id="17" name="Oval 16"/>
          <p:cNvSpPr/>
          <p:nvPr/>
        </p:nvSpPr>
        <p:spPr>
          <a:xfrm>
            <a:off x="4892040" y="2350008"/>
            <a:ext cx="566928" cy="566928"/>
          </a:xfrm>
          <a:prstGeom prst="ellipse">
            <a:avLst/>
          </a:prstGeom>
          <a:solidFill>
            <a:srgbClr val="2C6BED"/>
          </a:solidFill>
          <a:ln>
            <a:solidFill>
              <a:srgbClr val="2C6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2350008"/>
            <a:ext cx="5669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58968" y="2633472"/>
            <a:ext cx="923544" cy="0"/>
          </a:xfrm>
          <a:prstGeom prst="line">
            <a:avLst/>
          </a:prstGeom>
          <a:ln w="20320">
            <a:solidFill>
              <a:srgbClr val="5F78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389120" y="3090672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根因评估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529584"/>
            <a:ext cx="1572768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支持证据、反证与可信等级</a:t>
            </a:r>
          </a:p>
        </p:txBody>
      </p:sp>
      <p:sp>
        <p:nvSpPr>
          <p:cNvPr id="22" name="Oval 21"/>
          <p:cNvSpPr/>
          <p:nvPr/>
        </p:nvSpPr>
        <p:spPr>
          <a:xfrm>
            <a:off x="6803136" y="2350008"/>
            <a:ext cx="566928" cy="566928"/>
          </a:xfrm>
          <a:prstGeom prst="ellipse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350008"/>
            <a:ext cx="5669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70063" y="2633472"/>
            <a:ext cx="923545" cy="0"/>
          </a:xfrm>
          <a:prstGeom prst="line">
            <a:avLst/>
          </a:prstGeom>
          <a:ln w="20320">
            <a:solidFill>
              <a:srgbClr val="5F78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00216" y="3090672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形成提案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3529584"/>
            <a:ext cx="1572768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风险、影响、动作与验证方案</a:t>
            </a:r>
          </a:p>
        </p:txBody>
      </p:sp>
      <p:sp>
        <p:nvSpPr>
          <p:cNvPr id="27" name="Oval 26"/>
          <p:cNvSpPr/>
          <p:nvPr/>
        </p:nvSpPr>
        <p:spPr>
          <a:xfrm>
            <a:off x="8714232" y="2350008"/>
            <a:ext cx="566928" cy="566928"/>
          </a:xfrm>
          <a:prstGeom prst="ellipse">
            <a:avLst/>
          </a:prstGeom>
          <a:solidFill>
            <a:srgbClr val="D9534F"/>
          </a:solidFill>
          <a:ln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350008"/>
            <a:ext cx="5669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81159" y="2633472"/>
            <a:ext cx="923544" cy="0"/>
          </a:xfrm>
          <a:prstGeom prst="line">
            <a:avLst/>
          </a:prstGeom>
          <a:ln w="20320">
            <a:solidFill>
              <a:srgbClr val="5F78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11311" y="3090672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人工批准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1" y="3529584"/>
            <a:ext cx="1572768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逐条审批，Executor 再复核</a:t>
            </a:r>
          </a:p>
        </p:txBody>
      </p:sp>
      <p:sp>
        <p:nvSpPr>
          <p:cNvPr id="32" name="Oval 31"/>
          <p:cNvSpPr/>
          <p:nvPr/>
        </p:nvSpPr>
        <p:spPr>
          <a:xfrm>
            <a:off x="10625328" y="2350008"/>
            <a:ext cx="566928" cy="566928"/>
          </a:xfrm>
          <a:prstGeom prst="ellipse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25328" y="2350008"/>
            <a:ext cx="5669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22407" y="3090672"/>
            <a:ext cx="157276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验证沉淀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3529584"/>
            <a:ext cx="1572768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80" b="0">
                <a:solidFill>
                  <a:srgbClr val="B9C8D6"/>
                </a:solidFill>
                <a:latin typeface="Microsoft YaHei"/>
              </a:rPr>
              <a:t>Before / After 与故障报告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" y="4645152"/>
            <a:ext cx="1024128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Microsoft YaHei"/>
              </a:rPr>
              <a:t>让 AI 参与运维，但让每一步都有证据、有边界、有负责人。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486400"/>
            <a:ext cx="5532120" cy="502920"/>
          </a:xfrm>
          <a:prstGeom prst="roundRect">
            <a:avLst/>
          </a:prstGeom>
          <a:solidFill>
            <a:srgbClr val="00A69A"/>
          </a:solidFill>
          <a:ln>
            <a:solidFill>
              <a:srgbClr val="00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0" y="5486400"/>
            <a:ext cx="50749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KBot AIOps · 从“发现异常”走到“证明改善”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73952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850" b="0">
                <a:solidFill>
                  <a:srgbClr val="B9C8D6"/>
                </a:solidFill>
                <a:latin typeface="Microsoft YaHei"/>
              </a:rPr>
              <a:t>KBot AIOps · 客户与销售介绍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37392" y="6428232"/>
            <a:ext cx="4572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900" b="1">
                <a:solidFill>
                  <a:srgbClr val="B9C8D6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KBot AIOps：可信、可控的数据库智能运维</dc:title>
  <dc:subject>面向客户和销售人员的 KBot4 AIOps 产品介绍</dc:subject>
  <dc:creator>KBot</dc:creator>
  <cp:keywords>KBot, AIOps, Oracle, MySQL, PostgreSQL, 智能运维</cp:keywords>
  <dc:description>基于 2026-10-12 当前 KBot4 代码、契约与部署文档生成。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