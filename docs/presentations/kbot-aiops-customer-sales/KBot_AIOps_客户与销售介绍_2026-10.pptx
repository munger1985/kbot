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6"/>
    <p:sldId id="267" r:id="rId5"/>
    <p:sldId id="268" r:id="rId4"/>
    <p:sldId id="269" r:id="rId3"/>
    <p:sldId id="27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D2B0"/>
    <a:srgbClr val="5A9BD5"/>
    <a:srgbClr val="E8EAEA"/>
    <a:srgbClr val="2A6242"/>
    <a:srgbClr val="E8EAE9"/>
    <a:srgbClr val="E3F1E7"/>
    <a:srgbClr val="C74634"/>
    <a:srgbClr val="FF931A"/>
    <a:srgbClr val="0000FF"/>
    <a:srgbClr val="3955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7" autoAdjust="0"/>
    <p:restoredTop sz="95779" autoAdjust="0"/>
  </p:normalViewPr>
  <p:slideViewPr>
    <p:cSldViewPr snapToGrid="0">
      <p:cViewPr varScale="1">
        <p:scale>
          <a:sx n="124" d="100"/>
          <a:sy n="124" d="100"/>
        </p:scale>
        <p:origin x="208" y="27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5.xml"/><Relationship Id="rId3" Type="http://schemas.openxmlformats.org/officeDocument/2006/relationships/slide" Target="slides/slide14.xml"/><Relationship Id="rId4" Type="http://schemas.openxmlformats.org/officeDocument/2006/relationships/slide" Target="slides/slide13.xml"/><Relationship Id="rId5" Type="http://schemas.openxmlformats.org/officeDocument/2006/relationships/slide" Target="slides/slide12.xml"/><Relationship Id="rId6" Type="http://schemas.openxmlformats.org/officeDocument/2006/relationships/slide" Target="slides/slide1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464026-DAFF-45F6-90E3-B1030EA2F592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70156F-C72D-44F5-928E-D8E42C41A3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375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emf"/><Relationship Id="rId4" Type="http://schemas.openxmlformats.org/officeDocument/2006/relationships/image" Target="../media/image3.svg"/><Relationship Id="rId5" Type="http://schemas.openxmlformats.org/officeDocument/2006/relationships/image" Target="../media/image4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emf"/><Relationship Id="rId4" Type="http://schemas.openxmlformats.org/officeDocument/2006/relationships/image" Target="../media/image8.svg"/><Relationship Id="rId5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9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.em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.em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.em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.em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confluence.oraclecorp.com/confluence/display/DemandCenter/Safe+Harbor+Disclosures+for+Presentations" TargetMode="External"/><Relationship Id="rId3" Type="http://schemas.openxmlformats.org/officeDocument/2006/relationships/hyperlink" Target="mailto:mailto:quietperiod_ww_grp@oracle.com" TargetMode="External"/><Relationship Id="rId4" Type="http://schemas.openxmlformats.org/officeDocument/2006/relationships/image" Target="../media/image17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hyperlink" Target="https://confluence.oraclecorp.com/confluence/display/DemandCenter/Safe+Harbor+Disclosures+for+Presentations" TargetMode="External"/><Relationship Id="rId4" Type="http://schemas.openxmlformats.org/officeDocument/2006/relationships/hyperlink" Target="mailto:quietperiod_ww_grp@oracle.com" TargetMode="Externa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.em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.emf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eg"/><Relationship Id="rId3" Type="http://schemas.openxmlformats.org/officeDocument/2006/relationships/image" Target="../media/image1.emf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eg"/><Relationship Id="rId3" Type="http://schemas.openxmlformats.org/officeDocument/2006/relationships/image" Target="../media/image1.emf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1.em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1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e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3.svg"/><Relationship Id="rId4" Type="http://schemas.openxmlformats.org/officeDocument/2006/relationships/image" Target="../media/image21.jpe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8.svg"/><Relationship Id="rId4" Type="http://schemas.openxmlformats.org/officeDocument/2006/relationships/image" Target="../media/image21.jpe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3.svg"/><Relationship Id="rId4" Type="http://schemas.openxmlformats.org/officeDocument/2006/relationships/image" Target="../media/image22.jpe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eg"/><Relationship Id="rId3" Type="http://schemas.openxmlformats.org/officeDocument/2006/relationships/image" Target="../media/image1.emf"/><Relationship Id="rId4" Type="http://schemas.openxmlformats.org/officeDocument/2006/relationships/image" Target="../media/image8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3.svg"/><Relationship Id="rId4" Type="http://schemas.openxmlformats.org/officeDocument/2006/relationships/image" Target="../media/image23.jpe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8.svg"/><Relationship Id="rId4" Type="http://schemas.openxmlformats.org/officeDocument/2006/relationships/image" Target="../media/image23.jpe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eg"/><Relationship Id="rId3" Type="http://schemas.openxmlformats.org/officeDocument/2006/relationships/image" Target="../media/image1.emf"/><Relationship Id="rId4" Type="http://schemas.openxmlformats.org/officeDocument/2006/relationships/image" Target="../media/image3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eg"/><Relationship Id="rId3" Type="http://schemas.openxmlformats.org/officeDocument/2006/relationships/image" Target="../media/image1.emf"/><Relationship Id="rId4" Type="http://schemas.openxmlformats.org/officeDocument/2006/relationships/image" Target="../media/image8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8.svg"/><Relationship Id="rId4" Type="http://schemas.openxmlformats.org/officeDocument/2006/relationships/image" Target="../media/image25.jpe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3.svg"/><Relationship Id="rId4" Type="http://schemas.openxmlformats.org/officeDocument/2006/relationships/image" Target="../media/image26.jpe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8.svg"/><Relationship Id="rId4" Type="http://schemas.openxmlformats.org/officeDocument/2006/relationships/image" Target="../media/image26.jpe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3.svg"/><Relationship Id="rId4" Type="http://schemas.openxmlformats.org/officeDocument/2006/relationships/image" Target="../media/image27.jpe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8.svg"/><Relationship Id="rId4" Type="http://schemas.openxmlformats.org/officeDocument/2006/relationships/image" Target="../media/image27.jpe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3.svg"/><Relationship Id="rId4" Type="http://schemas.openxmlformats.org/officeDocument/2006/relationships/image" Target="../media/image28.jpe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8.svg"/><Relationship Id="rId4" Type="http://schemas.openxmlformats.org/officeDocument/2006/relationships/image" Target="../media/image28.jpe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3.svg"/><Relationship Id="rId4" Type="http://schemas.openxmlformats.org/officeDocument/2006/relationships/image" Target="../media/image29.jpe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3.svg"/><Relationship Id="rId4" Type="http://schemas.openxmlformats.org/officeDocument/2006/relationships/image" Target="../media/image30.jpe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8.svg"/><Relationship Id="rId4" Type="http://schemas.openxmlformats.org/officeDocument/2006/relationships/image" Target="../media/image30.jpe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.emf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.emf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32.jpg"/><Relationship Id="rId4" Type="http://schemas.openxmlformats.org/officeDocument/2006/relationships/image" Target="../media/image33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1.emf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loud">
            <a:extLst>
              <a:ext uri="{FF2B5EF4-FFF2-40B4-BE49-F238E27FC236}">
                <a16:creationId xmlns:a16="http://schemas.microsoft.com/office/drawing/2014/main" id="{C96C0F11-AAE4-4147-BF68-F2C0EE130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60484" y="20917"/>
            <a:ext cx="4331516" cy="2542941"/>
          </a:xfrm>
          <a:prstGeom prst="rect">
            <a:avLst/>
          </a:prstGeom>
        </p:spPr>
      </p:pic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Title goes here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AE562C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5595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3188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6349A69-90E3-45DB-BC86-3B7FB26B13E2}"/>
              </a:ext>
            </a:extLst>
          </p:cNvPr>
          <p:cNvSpPr/>
          <p:nvPr/>
        </p:nvSpPr>
        <p:spPr>
          <a:xfrm>
            <a:off x="0" y="0"/>
            <a:ext cx="190482" cy="6857365"/>
          </a:xfrm>
          <a:prstGeom prst="rect">
            <a:avLst/>
          </a:pr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968"/>
          </a:p>
        </p:txBody>
      </p:sp>
    </p:spTree>
    <p:extLst>
      <p:ext uri="{BB962C8B-B14F-4D97-AF65-F5344CB8AC3E}">
        <p14:creationId xmlns:p14="http://schemas.microsoft.com/office/powerpoint/2010/main" val="4293110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loud">
            <a:extLst>
              <a:ext uri="{FF2B5EF4-FFF2-40B4-BE49-F238E27FC236}">
                <a16:creationId xmlns:a16="http://schemas.microsoft.com/office/drawing/2014/main" id="{14698CB0-77BC-6148-8112-EFC83C0F5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7A30E9B-4EB7-4882-9E42-67210E9CC0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1525" y="1600200"/>
            <a:ext cx="10677525" cy="4507992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5CB6F3B-CCE4-4193-8EAA-C4A6D27C7D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31DBF8-F618-4198-88BA-FD1569B2979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8AA26E-E9A4-4CE1-9157-28062D2322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3DA01-00EF-4B14-8325-24C1135260F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6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- 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loud">
            <a:extLst>
              <a:ext uri="{FF2B5EF4-FFF2-40B4-BE49-F238E27FC236}">
                <a16:creationId xmlns:a16="http://schemas.microsoft.com/office/drawing/2014/main" id="{6D6FFA39-C5A8-964A-B2FE-D6F8EB7EB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E7315-8D61-4C6A-B9C0-F07567A04CC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1525" y="1600200"/>
            <a:ext cx="10671175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97CAD67-FAD1-46CA-BDA2-0A01416479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3D7001-FB5A-4601-97ED-F7B118AEEF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8561F1-3666-4956-BFDC-75350F74460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1022C-732A-4A28-8D73-4FE28C0CA3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7686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loud">
            <a:extLst>
              <a:ext uri="{FF2B5EF4-FFF2-40B4-BE49-F238E27FC236}">
                <a16:creationId xmlns:a16="http://schemas.microsoft.com/office/drawing/2014/main" id="{53E58D20-1E4E-43E2-88A3-52402E9A1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7862753" y="25409"/>
            <a:ext cx="4326976" cy="2552429"/>
          </a:xfrm>
          <a:prstGeom prst="rect">
            <a:avLst/>
          </a:prstGeom>
        </p:spPr>
      </p:pic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4" name="Oracle Logo" descr="Oracle Logo">
            <a:extLst>
              <a:ext uri="{FF2B5EF4-FFF2-40B4-BE49-F238E27FC236}">
                <a16:creationId xmlns:a16="http://schemas.microsoft.com/office/drawing/2014/main" id="{90869BEA-7CC8-4176-A565-8203484F77D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invGray">
          <a:xfrm>
            <a:off x="944949" y="1132368"/>
            <a:ext cx="1524893" cy="320039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Title goes here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759C6C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3F245C91-10B8-42A5-9343-B8007DFEA4E7}"/>
              </a:ext>
            </a:extLst>
          </p:cNvPr>
          <p:cNvSpPr/>
          <p:nvPr/>
        </p:nvSpPr>
        <p:spPr>
          <a:xfrm>
            <a:off x="0" y="0"/>
            <a:ext cx="190482" cy="6857365"/>
          </a:xfrm>
          <a:prstGeom prst="rect">
            <a:avLst/>
          </a:pr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968"/>
          </a:p>
        </p:txBody>
      </p:sp>
    </p:spTree>
    <p:extLst>
      <p:ext uri="{BB962C8B-B14F-4D97-AF65-F5344CB8AC3E}">
        <p14:creationId xmlns:p14="http://schemas.microsoft.com/office/powerpoint/2010/main" val="39244001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/Sub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loud">
            <a:extLst>
              <a:ext uri="{FF2B5EF4-FFF2-40B4-BE49-F238E27FC236}">
                <a16:creationId xmlns:a16="http://schemas.microsoft.com/office/drawing/2014/main" id="{C4B9D6C0-2524-2D47-8A0E-258A2FB7D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709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0201"/>
            <a:ext cx="10671175" cy="450691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4D9CD-CDC4-4642-8CDA-7351404FC2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5C278-52DE-4C8A-933B-1109B3282E5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2CE12F3-375D-4B05-A71D-DA14DF8ADB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59FA82-C146-45DF-AE7B-4B5698706BE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4846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- Title/Sub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loud">
            <a:extLst>
              <a:ext uri="{FF2B5EF4-FFF2-40B4-BE49-F238E27FC236}">
                <a16:creationId xmlns:a16="http://schemas.microsoft.com/office/drawing/2014/main" id="{1AB5E956-2EDB-D344-BA59-AB352F62D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0990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0199"/>
            <a:ext cx="10671175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E68516-E3E0-4F22-9EB7-1A85E1D3B5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2FE7D-30FF-45E2-9F8B-D073887C33E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1A7F3B8-F794-4AF5-B07B-32A3084A6A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57290E2-8EA8-4572-BB48-C1800720178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758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loud">
            <a:extLst>
              <a:ext uri="{FF2B5EF4-FFF2-40B4-BE49-F238E27FC236}">
                <a16:creationId xmlns:a16="http://schemas.microsoft.com/office/drawing/2014/main" id="{5B8024F8-E03D-9641-AA75-22D1B5C84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8575"/>
            <a:ext cx="5084064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/>
        </p:nvCxnSpPr>
        <p:spPr>
          <a:xfrm>
            <a:off x="6109577" y="160857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575"/>
            <a:ext cx="5084064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pic>
        <p:nvPicPr>
          <p:cNvPr id="12" name="OTag">
            <a:extLst>
              <a:ext uri="{FF2B5EF4-FFF2-40B4-BE49-F238E27FC236}">
                <a16:creationId xmlns:a16="http://schemas.microsoft.com/office/drawing/2014/main" id="{DDE8776E-BE08-D148-AA47-8308E0EAE40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69740FE-E1B8-466B-970A-4E081BCA3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59A2DB-C5C1-4EE1-AACB-216D980708B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C0504-19F8-4069-8B02-83766B3CAF7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D6D2F-6BC7-48B4-B7A5-AD19749245D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8724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- Titl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loud">
            <a:extLst>
              <a:ext uri="{FF2B5EF4-FFF2-40B4-BE49-F238E27FC236}">
                <a16:creationId xmlns:a16="http://schemas.microsoft.com/office/drawing/2014/main" id="{4937DF73-DD65-ED42-A070-3D57E267C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8575"/>
            <a:ext cx="5084064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/>
        </p:nvCxnSpPr>
        <p:spPr>
          <a:xfrm>
            <a:off x="6109577" y="160857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575"/>
            <a:ext cx="5084064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F59826-0B3C-4973-B5FA-B18F68758F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D91B51-6B36-47A4-903E-93C057BB06E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D7F1A-871E-41E8-ADDC-EC649B1827F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5DE06-0B0B-4818-81DB-FDBB019FF7B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6514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/Subtitl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loud">
            <a:extLst>
              <a:ext uri="{FF2B5EF4-FFF2-40B4-BE49-F238E27FC236}">
                <a16:creationId xmlns:a16="http://schemas.microsoft.com/office/drawing/2014/main" id="{F24DF316-2FA6-AE44-AB7A-9E7E86E0B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8297"/>
            <a:ext cx="5084064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/>
        </p:nvCxnSpPr>
        <p:spPr>
          <a:xfrm>
            <a:off x="6108521" y="1608298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297"/>
            <a:ext cx="5084064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65FA2D-6C94-456B-8DE9-80C7A3BE2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06EC0-4AE6-4D7C-87DE-D393DC47ED9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594DB29-C2B8-4F61-8419-EEE3D1E837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4C4FB3-367C-49DA-9BEF-99BD8CD346F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199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- Title/Subtitl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loud">
            <a:extLst>
              <a:ext uri="{FF2B5EF4-FFF2-40B4-BE49-F238E27FC236}">
                <a16:creationId xmlns:a16="http://schemas.microsoft.com/office/drawing/2014/main" id="{28C366F9-78A6-F740-87C8-B4D59AEB6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4"/>
            <a:ext cx="5084064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/>
        </p:nvCxnSpPr>
        <p:spPr>
          <a:xfrm>
            <a:off x="6108521" y="1608588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9724"/>
            <a:ext cx="5084064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662519-4941-4045-9F0E-DBC7AD6CC2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E807CE-245D-4F0E-ACCB-E3FE7584A0A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C87038-F332-48C5-BA1A-25E9350762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BF160E-FC2C-48A7-921B-3472529A1B0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6712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loud">
            <a:extLst>
              <a:ext uri="{FF2B5EF4-FFF2-40B4-BE49-F238E27FC236}">
                <a16:creationId xmlns:a16="http://schemas.microsoft.com/office/drawing/2014/main" id="{3CA75903-C10D-E747-B877-6804D65E8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9725"/>
            <a:ext cx="3300984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/>
        </p:nvCxnSpPr>
        <p:spPr>
          <a:xfrm>
            <a:off x="4263415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56971" y="1609725"/>
            <a:ext cx="3300984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/>
        </p:nvCxnSpPr>
        <p:spPr>
          <a:xfrm>
            <a:off x="7951511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45067" y="1609725"/>
            <a:ext cx="3300984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2FFF47-983C-4CE2-9048-1317EB4F3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56EEFB-7FCA-4C8C-BD9A-59CFF6BBA9A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095ECF-3404-41BC-B49D-2616D73127C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9C599-3545-4260-BC77-88BD7619A10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50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- Title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loud">
            <a:extLst>
              <a:ext uri="{FF2B5EF4-FFF2-40B4-BE49-F238E27FC236}">
                <a16:creationId xmlns:a16="http://schemas.microsoft.com/office/drawing/2014/main" id="{DCCF0BD7-85D3-194F-9793-E38DD2B8F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9725"/>
            <a:ext cx="3300984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/>
        </p:nvCxnSpPr>
        <p:spPr>
          <a:xfrm>
            <a:off x="4263415" y="161033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56971" y="1609725"/>
            <a:ext cx="3300984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/>
        </p:nvCxnSpPr>
        <p:spPr>
          <a:xfrm>
            <a:off x="7951511" y="161033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45067" y="1609725"/>
            <a:ext cx="3300984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50D675-D1C2-4EC5-AC43-361941EAF0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3D1004-DEA1-4BAF-97C2-F49A471F4E4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7C943-7B6D-4881-926B-CD58E0F2AC1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963952-CC43-4F63-8DDF-47B0F451288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2964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/Subtitle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loud">
            <a:extLst>
              <a:ext uri="{FF2B5EF4-FFF2-40B4-BE49-F238E27FC236}">
                <a16:creationId xmlns:a16="http://schemas.microsoft.com/office/drawing/2014/main" id="{D922B281-CE8B-4E47-889A-38B9D11BA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4"/>
            <a:ext cx="3300984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/>
        </p:nvCxnSpPr>
        <p:spPr>
          <a:xfrm>
            <a:off x="4261915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56083" y="1609724"/>
            <a:ext cx="3300984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/>
        </p:nvCxnSpPr>
        <p:spPr>
          <a:xfrm>
            <a:off x="7951236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45405" y="1609724"/>
            <a:ext cx="3300984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26210A-4112-4730-8F81-3CAE5C391F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D3E0A-0143-42FC-B8B6-EBC1FF99000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D46B54D-91F2-4210-9BEA-3B59824207D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900B02-4438-4597-85D3-D93A97B1546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135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- Title/Subtitle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loud">
            <a:extLst>
              <a:ext uri="{FF2B5EF4-FFF2-40B4-BE49-F238E27FC236}">
                <a16:creationId xmlns:a16="http://schemas.microsoft.com/office/drawing/2014/main" id="{B017591D-9CE6-7446-94B7-8CEEEAF69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6"/>
            <a:ext cx="3300984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/>
        </p:nvCxnSpPr>
        <p:spPr>
          <a:xfrm>
            <a:off x="4261915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56083" y="1609726"/>
            <a:ext cx="3300984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/>
        </p:nvCxnSpPr>
        <p:spPr>
          <a:xfrm>
            <a:off x="7951236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45405" y="1609726"/>
            <a:ext cx="3300984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60902A-4CDA-482D-90DF-ECACF19309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E4DB8-9644-4581-BEED-809BCD3EA9C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F0DBBB3-F562-4D09-B7E5-45C9C98CE1B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C14E1F-DA7F-492C-AFEB-BC17569A900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043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Cloud">
            <a:extLst>
              <a:ext uri="{FF2B5EF4-FFF2-40B4-BE49-F238E27FC236}">
                <a16:creationId xmlns:a16="http://schemas.microsoft.com/office/drawing/2014/main" id="{403EA880-91CB-2F4A-BC00-A93538513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589524"/>
            <a:ext cx="2478024" cy="4525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/>
        </p:nvCxnSpPr>
        <p:spPr>
          <a:xfrm>
            <a:off x="3374450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502001" y="1589524"/>
            <a:ext cx="2478024" cy="4525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/>
        </p:nvCxnSpPr>
        <p:spPr>
          <a:xfrm>
            <a:off x="6107576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35127" y="1589524"/>
            <a:ext cx="2478024" cy="4525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cxnSp>
        <p:nvCxnSpPr>
          <p:cNvPr id="19" name="Column Divider 3" descr="Column Divider">
            <a:extLst>
              <a:ext uri="{FF2B5EF4-FFF2-40B4-BE49-F238E27FC236}">
                <a16:creationId xmlns:a16="http://schemas.microsoft.com/office/drawing/2014/main" id="{0379F816-270D-4D0F-8838-510AA3E97C28}"/>
              </a:ext>
            </a:extLst>
          </p:cNvPr>
          <p:cNvCxnSpPr>
            <a:cxnSpLocks/>
          </p:cNvCxnSpPr>
          <p:nvPr/>
        </p:nvCxnSpPr>
        <p:spPr>
          <a:xfrm>
            <a:off x="8840702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4">
            <a:extLst>
              <a:ext uri="{FF2B5EF4-FFF2-40B4-BE49-F238E27FC236}">
                <a16:creationId xmlns:a16="http://schemas.microsoft.com/office/drawing/2014/main" id="{4FB98D34-E09D-43FC-9515-8F7C37635BF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68254" y="1589524"/>
            <a:ext cx="2478024" cy="4525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65C0AC-7132-4356-88D4-79E4A49B2C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131A1D-D1FF-4A37-8531-B67D54ED466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026-CA1C-465B-ADD5-AE1F9B7A077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64CFB-254B-4876-8556-026D173672E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2077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- Title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loud">
            <a:extLst>
              <a:ext uri="{FF2B5EF4-FFF2-40B4-BE49-F238E27FC236}">
                <a16:creationId xmlns:a16="http://schemas.microsoft.com/office/drawing/2014/main" id="{6D31D0E4-AF4F-A542-A6E3-8EBAA9F1B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8575"/>
            <a:ext cx="2478024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/>
        </p:nvCxnSpPr>
        <p:spPr>
          <a:xfrm>
            <a:off x="3374450" y="1609209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502001" y="1608575"/>
            <a:ext cx="2478024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/>
        </p:nvCxnSpPr>
        <p:spPr>
          <a:xfrm>
            <a:off x="6107576" y="1609209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35127" y="1608575"/>
            <a:ext cx="2478024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cxnSp>
        <p:nvCxnSpPr>
          <p:cNvPr id="19" name="Column Divider 3" descr="Column Divider">
            <a:extLst>
              <a:ext uri="{FF2B5EF4-FFF2-40B4-BE49-F238E27FC236}">
                <a16:creationId xmlns:a16="http://schemas.microsoft.com/office/drawing/2014/main" id="{0379F816-270D-4D0F-8838-510AA3E97C28}"/>
              </a:ext>
            </a:extLst>
          </p:cNvPr>
          <p:cNvCxnSpPr>
            <a:cxnSpLocks/>
          </p:cNvCxnSpPr>
          <p:nvPr/>
        </p:nvCxnSpPr>
        <p:spPr>
          <a:xfrm>
            <a:off x="8840702" y="1609209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4">
            <a:extLst>
              <a:ext uri="{FF2B5EF4-FFF2-40B4-BE49-F238E27FC236}">
                <a16:creationId xmlns:a16="http://schemas.microsoft.com/office/drawing/2014/main" id="{4FB98D34-E09D-43FC-9515-8F7C37635BF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68254" y="1608575"/>
            <a:ext cx="2478024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A814CE-3331-469B-8BE8-853F42A034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F26386-047A-407D-BEE4-BF9BC2C4C09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A8344-82CB-496F-8690-72CF339725D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EBA4F-FCB4-4B89-BEA0-1B33D86D6DE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4002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/Subtitle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loud">
            <a:extLst>
              <a:ext uri="{FF2B5EF4-FFF2-40B4-BE49-F238E27FC236}">
                <a16:creationId xmlns:a16="http://schemas.microsoft.com/office/drawing/2014/main" id="{DE68A64E-9177-1E41-B02B-9C94A30A0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5"/>
            <a:ext cx="2478024" cy="450691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/>
        </p:nvCxnSpPr>
        <p:spPr>
          <a:xfrm>
            <a:off x="3373924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03061" y="1609725"/>
            <a:ext cx="2478024" cy="450691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/>
        </p:nvCxnSpPr>
        <p:spPr>
          <a:xfrm>
            <a:off x="6110222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9359" y="1609725"/>
            <a:ext cx="2478024" cy="450691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cxnSp>
        <p:nvCxnSpPr>
          <p:cNvPr id="25" name="Column Divider 3" descr="Column Divider">
            <a:extLst>
              <a:ext uri="{FF2B5EF4-FFF2-40B4-BE49-F238E27FC236}">
                <a16:creationId xmlns:a16="http://schemas.microsoft.com/office/drawing/2014/main" id="{BE2D13B4-3BF3-4416-B638-87C59A2973BB}"/>
              </a:ext>
            </a:extLst>
          </p:cNvPr>
          <p:cNvCxnSpPr>
            <a:cxnSpLocks/>
          </p:cNvCxnSpPr>
          <p:nvPr/>
        </p:nvCxnSpPr>
        <p:spPr>
          <a:xfrm>
            <a:off x="8846520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4">
            <a:extLst>
              <a:ext uri="{FF2B5EF4-FFF2-40B4-BE49-F238E27FC236}">
                <a16:creationId xmlns:a16="http://schemas.microsoft.com/office/drawing/2014/main" id="{687CB06A-9B62-47DB-BA7A-177E12DFB17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75659" y="1609725"/>
            <a:ext cx="2478024" cy="450691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191157-EC2D-4417-9959-2EA7D1DAFF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388CBD-B05C-4885-A081-172C87DCAD8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E56F53-8C5C-4F85-9969-353868B64B2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89360B9-A253-468B-B3D3-70CC43B0746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298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- Title/Subtitle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loud">
            <a:extLst>
              <a:ext uri="{FF2B5EF4-FFF2-40B4-BE49-F238E27FC236}">
                <a16:creationId xmlns:a16="http://schemas.microsoft.com/office/drawing/2014/main" id="{6F66DACA-117A-D443-A12C-B547719EC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6"/>
            <a:ext cx="2478024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/>
        </p:nvCxnSpPr>
        <p:spPr>
          <a:xfrm>
            <a:off x="3373924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03061" y="1609726"/>
            <a:ext cx="2478024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/>
        </p:nvCxnSpPr>
        <p:spPr>
          <a:xfrm>
            <a:off x="6110222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9359" y="1609726"/>
            <a:ext cx="2478024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cxnSp>
        <p:nvCxnSpPr>
          <p:cNvPr id="25" name="Column Divider 3" descr="Column Divider">
            <a:extLst>
              <a:ext uri="{FF2B5EF4-FFF2-40B4-BE49-F238E27FC236}">
                <a16:creationId xmlns:a16="http://schemas.microsoft.com/office/drawing/2014/main" id="{BE2D13B4-3BF3-4416-B638-87C59A2973BB}"/>
              </a:ext>
            </a:extLst>
          </p:cNvPr>
          <p:cNvCxnSpPr>
            <a:cxnSpLocks/>
          </p:cNvCxnSpPr>
          <p:nvPr/>
        </p:nvCxnSpPr>
        <p:spPr>
          <a:xfrm>
            <a:off x="8846520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4">
            <a:extLst>
              <a:ext uri="{FF2B5EF4-FFF2-40B4-BE49-F238E27FC236}">
                <a16:creationId xmlns:a16="http://schemas.microsoft.com/office/drawing/2014/main" id="{687CB06A-9B62-47DB-BA7A-177E12DFB17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75659" y="1609726"/>
            <a:ext cx="2478024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467A894-8EF4-484B-BF49-DF2E9F970D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422C40-A387-420C-B07A-9F6BE08313A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50E71C-CB99-4BD4-8252-ED7D062329F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D33CF2B-9E35-4547-8232-5DE4CC57C30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47668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 Quad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loud">
            <a:extLst>
              <a:ext uri="{FF2B5EF4-FFF2-40B4-BE49-F238E27FC236}">
                <a16:creationId xmlns:a16="http://schemas.microsoft.com/office/drawing/2014/main" id="{A646CDE3-61DE-5F4A-A6EA-E5FECEFF0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33" name="Picture Placeholder 1">
            <a:extLst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8875" y="1609209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25" name="Text Field 1">
            <a:extLst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35245" y="1609209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6350303" y="1609209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31" name="Text Field 2">
            <a:extLst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24823" y="1609209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768875" y="4240646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29" name="Text Field 3">
            <a:extLst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35245" y="4240646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350303" y="4240646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32" name="Text Field 4">
            <a:extLst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24823" y="4240646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3EED3DC-3691-46BD-9B48-E2C270C741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BE0263-5FD6-4DE6-B9D0-79EF81804AF3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C050F-728D-4BEF-B207-F42452F3527D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46726-6BED-4C16-B2F2-97FDB0765DB8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0040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- Title Quad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loud">
            <a:extLst>
              <a:ext uri="{FF2B5EF4-FFF2-40B4-BE49-F238E27FC236}">
                <a16:creationId xmlns:a16="http://schemas.microsoft.com/office/drawing/2014/main" id="{307F0167-116B-4B46-AC07-0CF33541B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33" name="Picture Placeholder 1">
            <a:extLst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8875" y="1609209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25" name="Text Field 1">
            <a:extLst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35245" y="1609209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6350303" y="1609209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31" name="Text Field 2">
            <a:extLst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24823" y="1609209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768875" y="4240646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29" name="Text Field 3">
            <a:extLst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35245" y="4240646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350303" y="4240646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32" name="Text Field 4">
            <a:extLst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24823" y="4240646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83207C4-681D-4388-B80E-EE2FA349AF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3EB1D7-DB39-4B87-83A2-C41A68F7435E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D1DB1E-E699-4B1A-BFD3-5F9D0BCDB864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2DF93-F6AF-4392-A308-BFC8349686D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582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Numbered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loud">
            <a:extLst>
              <a:ext uri="{FF2B5EF4-FFF2-40B4-BE49-F238E27FC236}">
                <a16:creationId xmlns:a16="http://schemas.microsoft.com/office/drawing/2014/main" id="{3CFD71AD-DED9-6542-9425-0CD364D04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2282" y="4403039"/>
            <a:ext cx="6133750" cy="16950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10687050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903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- Numbered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loud">
            <a:extLst>
              <a:ext uri="{FF2B5EF4-FFF2-40B4-BE49-F238E27FC236}">
                <a16:creationId xmlns:a16="http://schemas.microsoft.com/office/drawing/2014/main" id="{EFF16796-4E17-4FE8-979C-14D9493536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2283" y="4403039"/>
            <a:ext cx="6133748" cy="16950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10687050" cy="4505325"/>
          </a:xfrm>
          <a:noFill/>
        </p:spPr>
        <p:txBody>
          <a:bodyPr vert="horz" lIns="0" tIns="0" rIns="0" bIns="0" rtlCol="0">
            <a:noAutofit/>
          </a:bodyPr>
          <a:lstStyle>
            <a:lvl1pPr marL="0" indent="-365760">
              <a:buClr>
                <a:schemeClr val="accent6"/>
              </a:buClr>
              <a:buFont typeface="+mj-lt"/>
              <a:buAutoNum type="arabicPeriod"/>
              <a:defRPr lang="en-US" dirty="0">
                <a:solidFill>
                  <a:schemeClr val="bg1"/>
                </a:solidFill>
              </a:defRPr>
            </a:lvl1pPr>
            <a:lvl2pPr marL="548640">
              <a:defRPr lang="en-US" dirty="0">
                <a:solidFill>
                  <a:schemeClr val="bg1"/>
                </a:solidFill>
              </a:defRPr>
            </a:lvl2pPr>
            <a:lvl3pPr marL="731520">
              <a:defRPr lang="en-US" dirty="0">
                <a:solidFill>
                  <a:schemeClr val="bg1"/>
                </a:solidFill>
              </a:defRPr>
            </a:lvl3pPr>
            <a:lvl4pPr marL="914400">
              <a:defRPr lang="en-US" dirty="0">
                <a:solidFill>
                  <a:schemeClr val="bg1"/>
                </a:solidFill>
              </a:defRPr>
            </a:lvl4pPr>
            <a:lvl5pPr marL="1097280"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01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Numbered Outlin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Cloud">
            <a:extLst>
              <a:ext uri="{FF2B5EF4-FFF2-40B4-BE49-F238E27FC236}">
                <a16:creationId xmlns:a16="http://schemas.microsoft.com/office/drawing/2014/main" id="{3CFD71AD-DED9-6542-9425-0CD364D04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2282" y="4403039"/>
            <a:ext cx="6133750" cy="16950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5084064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3AB42C3-C7C2-47CD-8E87-C5D5963E7A0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364986" y="1609724"/>
            <a:ext cx="5084064" cy="4505325"/>
          </a:xfr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2593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- Numbered Outlin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loud">
            <a:extLst>
              <a:ext uri="{FF2B5EF4-FFF2-40B4-BE49-F238E27FC236}">
                <a16:creationId xmlns:a16="http://schemas.microsoft.com/office/drawing/2014/main" id="{EFF16796-4E17-4FE8-979C-14D9493536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2283" y="4403039"/>
            <a:ext cx="6133748" cy="16950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5084064" cy="4505325"/>
          </a:xfrm>
          <a:noFill/>
        </p:spPr>
        <p:txBody>
          <a:bodyPr vert="horz" lIns="0" tIns="0" rIns="0" bIns="0" rtlCol="0">
            <a:noAutofit/>
          </a:bodyPr>
          <a:lstStyle>
            <a:lvl1pPr marL="0" indent="-365760">
              <a:buClr>
                <a:schemeClr val="accent6"/>
              </a:buClr>
              <a:buFont typeface="+mj-lt"/>
              <a:buAutoNum type="arabicPeriod"/>
              <a:defRPr lang="en-US" dirty="0">
                <a:solidFill>
                  <a:schemeClr val="bg1"/>
                </a:solidFill>
              </a:defRPr>
            </a:lvl1pPr>
            <a:lvl2pPr marL="548640">
              <a:defRPr lang="en-US" dirty="0">
                <a:solidFill>
                  <a:schemeClr val="bg1"/>
                </a:solidFill>
              </a:defRPr>
            </a:lvl2pPr>
            <a:lvl3pPr marL="731520">
              <a:defRPr lang="en-US" dirty="0">
                <a:solidFill>
                  <a:schemeClr val="bg1"/>
                </a:solidFill>
              </a:defRPr>
            </a:lvl3pPr>
            <a:lvl4pPr marL="914400">
              <a:defRPr lang="en-US" dirty="0">
                <a:solidFill>
                  <a:schemeClr val="bg1"/>
                </a:solidFill>
              </a:defRPr>
            </a:lvl4pPr>
            <a:lvl5pPr marL="1097280"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5B0AED4-660C-4741-9A22-50FB3CA4ABA7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366095" y="1609724"/>
            <a:ext cx="5084064" cy="4505325"/>
          </a:xfrm>
          <a:noFill/>
        </p:spPr>
        <p:txBody>
          <a:bodyPr vert="horz" lIns="0" tIns="0" rIns="0" bIns="0" rtlCol="0">
            <a:noAutofit/>
          </a:bodyPr>
          <a:lstStyle>
            <a:lvl1pPr marL="0" indent="-365760">
              <a:buClr>
                <a:schemeClr val="accent6"/>
              </a:buClr>
              <a:buFont typeface="+mj-lt"/>
              <a:buAutoNum type="arabicPeriod"/>
              <a:defRPr lang="en-US" dirty="0">
                <a:solidFill>
                  <a:schemeClr val="bg1"/>
                </a:solidFill>
              </a:defRPr>
            </a:lvl1pPr>
            <a:lvl2pPr marL="548640">
              <a:defRPr lang="en-US" dirty="0">
                <a:solidFill>
                  <a:schemeClr val="bg1"/>
                </a:solidFill>
              </a:defRPr>
            </a:lvl2pPr>
            <a:lvl3pPr marL="731520">
              <a:defRPr lang="en-US" dirty="0">
                <a:solidFill>
                  <a:schemeClr val="bg1"/>
                </a:solidFill>
              </a:defRPr>
            </a:lvl3pPr>
            <a:lvl4pPr marL="914400">
              <a:defRPr lang="en-US" dirty="0">
                <a:solidFill>
                  <a:schemeClr val="bg1"/>
                </a:solidFill>
              </a:defRPr>
            </a:lvl4pPr>
            <a:lvl5pPr marL="1097280"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571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/Subtitle Quad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loud">
            <a:extLst>
              <a:ext uri="{FF2B5EF4-FFF2-40B4-BE49-F238E27FC236}">
                <a16:creationId xmlns:a16="http://schemas.microsoft.com/office/drawing/2014/main" id="{2836A0A9-B46B-8E44-BD88-E6FFEC5F9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22" name="Subtitle">
            <a:extLst>
              <a:ext uri="{FF2B5EF4-FFF2-40B4-BE49-F238E27FC236}">
                <a16:creationId xmlns:a16="http://schemas.microsoft.com/office/drawing/2014/main" id="{F8627394-C302-DF4A-A2CC-76DC053BE2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3" name="Picture Placeholder 1">
            <a:extLst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763" y="1609725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25" name="Text Field 1">
            <a:extLst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35245" y="1609725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6350303" y="1609725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31" name="Text Field 2">
            <a:extLst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24823" y="1609725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766763" y="4241162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29" name="Text Field 3">
            <a:extLst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35245" y="4241162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350303" y="4241162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32" name="Text Field 4">
            <a:extLst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24823" y="4241162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56FC21-9E73-4F6F-9512-715B2F6AE7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A4CAAD-4985-4FFF-BE24-1873DC385CA6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6AD3B-D115-41B9-A024-91B560E170A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57306-2538-4D77-8134-400C30C727E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106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- Title/Subtitle Quad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loud">
            <a:extLst>
              <a:ext uri="{FF2B5EF4-FFF2-40B4-BE49-F238E27FC236}">
                <a16:creationId xmlns:a16="http://schemas.microsoft.com/office/drawing/2014/main" id="{A59691D8-12D1-8E4C-8346-D9FD6743C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22" name="Subtitle">
            <a:extLst>
              <a:ext uri="{FF2B5EF4-FFF2-40B4-BE49-F238E27FC236}">
                <a16:creationId xmlns:a16="http://schemas.microsoft.com/office/drawing/2014/main" id="{F8627394-C302-DF4A-A2CC-76DC053BE2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3" name="Picture Placeholder 1">
            <a:extLst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763" y="1609725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25" name="Text Field 1">
            <a:extLst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35245" y="1609725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6350303" y="1609725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31" name="Text Field 2">
            <a:extLst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24823" y="1609725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766763" y="4241162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29" name="Text Field 3">
            <a:extLst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35245" y="4241162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350303" y="4241162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32" name="Text Field 4">
            <a:extLst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24823" y="4241162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F5A0DB-77B7-43EC-848A-C3EEA5F4DC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2928A2-36B1-4B61-82B8-0724A988B968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365B2-9A7D-4291-A052-A65B0C767BBE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1CBF8-87F2-4E8D-9C05-48F5D29D5D7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9991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Tag">
            <a:extLst>
              <a:ext uri="{FF2B5EF4-FFF2-40B4-BE49-F238E27FC236}">
                <a16:creationId xmlns:a16="http://schemas.microsoft.com/office/drawing/2014/main" id="{0F682282-A332-4D5C-89F4-38480EC33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0" name="OTag">
            <a:extLst>
              <a:ext uri="{FF2B5EF4-FFF2-40B4-BE49-F238E27FC236}">
                <a16:creationId xmlns:a16="http://schemas.microsoft.com/office/drawing/2014/main" id="{00F1077A-D301-437A-8CE7-A0EA6CDEC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E29D2F-E9BE-442D-8048-30D82B0FA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49E66D-873C-4E3D-B665-952DA3AD6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D4C26-D77F-4F76-BA95-32055FEC6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62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Tag">
            <a:extLst>
              <a:ext uri="{FF2B5EF4-FFF2-40B4-BE49-F238E27FC236}">
                <a16:creationId xmlns:a16="http://schemas.microsoft.com/office/drawing/2014/main" id="{1CFFF60E-C73F-41DD-B4B9-8792F4C0D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1" name="Cloud">
            <a:extLst>
              <a:ext uri="{FF2B5EF4-FFF2-40B4-BE49-F238E27FC236}">
                <a16:creationId xmlns:a16="http://schemas.microsoft.com/office/drawing/2014/main" id="{A2A0E6A0-6580-9B4E-8437-9949DBFBF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EECACB-46C4-4A42-8159-4ABC00F85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ED7B6-E930-4B73-845F-99262175E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691DFD-B788-4684-96F9-4DD21020B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528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loud">
            <a:extLst>
              <a:ext uri="{FF2B5EF4-FFF2-40B4-BE49-F238E27FC236}">
                <a16:creationId xmlns:a16="http://schemas.microsoft.com/office/drawing/2014/main" id="{A52109B5-4152-894B-9BF6-17B5458CC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5090641-BB3E-479D-A754-1B2B6F37AE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53D77D-CD9E-445C-8F26-904F65B5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AEFA0-C12C-4365-A532-D29F81954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038FD-33E0-4C25-AC00-13FEB177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690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loud">
            <a:extLst>
              <a:ext uri="{FF2B5EF4-FFF2-40B4-BE49-F238E27FC236}">
                <a16:creationId xmlns:a16="http://schemas.microsoft.com/office/drawing/2014/main" id="{05859F96-E4B3-8747-B027-10CA6EDB3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495A570-6FAE-4393-89B0-E6BA7AC6B3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792EEA-DB03-4E8E-B6AB-1122F317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B5D96-D6C9-4E8C-9D41-A28C7CED9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0D253-6DDA-4486-89F6-5D5732868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0598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loud">
            <a:extLst>
              <a:ext uri="{FF2B5EF4-FFF2-40B4-BE49-F238E27FC236}">
                <a16:creationId xmlns:a16="http://schemas.microsoft.com/office/drawing/2014/main" id="{EE127CFA-8D5C-584E-9C61-6685B547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2"/>
          </a:xfrm>
          <a:prstGeom prst="rect">
            <a:avLst/>
          </a:prstGeom>
        </p:spPr>
      </p:pic>
      <p:sp>
        <p:nvSpPr>
          <p:cNvPr id="15" name="Subtitle">
            <a:extLst>
              <a:ext uri="{FF2B5EF4-FFF2-40B4-BE49-F238E27FC236}">
                <a16:creationId xmlns:a16="http://schemas.microsoft.com/office/drawing/2014/main" id="{FC0004EB-159B-A345-859C-0E83416ED9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024235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6A8D35-C90D-428D-8E15-6F958679D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526A55-50C7-43D1-9A4E-DE6E3157868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ED885-1287-4046-BFFE-E5DEC702C7A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1380-E61D-4D70-B7A9-EA2CA56D14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页脚占位符 2">
            <a:extLst>
              <a:ext uri="{FF2B5EF4-FFF2-40B4-BE49-F238E27FC236}">
                <a16:creationId xmlns:a16="http://schemas.microsoft.com/office/drawing/2014/main" id="{951DCAA3-E81E-6A48-29E6-6870A8E899FF}"/>
              </a:ext>
            </a:extLst>
          </p:cNvPr>
          <p:cNvSpPr txBox="1">
            <a:spLocks/>
          </p:cNvSpPr>
          <p:nvPr userDrawn="1"/>
        </p:nvSpPr>
        <p:spPr>
          <a:xfrm>
            <a:off x="1127758" y="6423978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rgbClr val="8B858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>
                <a:latin typeface="Oracle Sans Tab" panose="020B0503020204020204" pitchFamily="34" charset="0"/>
                <a:ea typeface="Noto Sans SC Regular" panose="020B0500000000000000" pitchFamily="34" charset="-122"/>
              </a:rPr>
              <a:t>Copyright © 2025, Oracle and/or its affiliates  </a:t>
            </a:r>
          </a:p>
        </p:txBody>
      </p:sp>
    </p:spTree>
    <p:extLst>
      <p:ext uri="{BB962C8B-B14F-4D97-AF65-F5344CB8AC3E}">
        <p14:creationId xmlns:p14="http://schemas.microsoft.com/office/powerpoint/2010/main" val="2850543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- 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loud">
            <a:extLst>
              <a:ext uri="{FF2B5EF4-FFF2-40B4-BE49-F238E27FC236}">
                <a16:creationId xmlns:a16="http://schemas.microsoft.com/office/drawing/2014/main" id="{93BCC98D-F462-9844-9660-2EA01F13E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5731" y="269359"/>
            <a:ext cx="5080369" cy="1559441"/>
          </a:xfrm>
          <a:prstGeom prst="rect">
            <a:avLst/>
          </a:prstGeom>
        </p:spPr>
      </p:pic>
      <p:sp>
        <p:nvSpPr>
          <p:cNvPr id="15" name="Subtitle">
            <a:extLst>
              <a:ext uri="{FF2B5EF4-FFF2-40B4-BE49-F238E27FC236}">
                <a16:creationId xmlns:a16="http://schemas.microsoft.com/office/drawing/2014/main" id="{FC0004EB-159B-A345-859C-0E83416ED9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71FF06-338B-46FE-B4FE-F72B7ABAE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59E3D4-8DE9-4EE7-AF46-396CA0361B3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ABD9F-CF7B-4739-A09B-21C74EE3D7D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326A2-CE99-456C-A450-2DC676458CD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517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Met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F90C14E-647D-DE45-A3FE-3E841253B48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97" r="-1"/>
          <a:stretch/>
        </p:blipFill>
        <p:spPr>
          <a:xfrm>
            <a:off x="6095574" y="0"/>
            <a:ext cx="6096425" cy="6858000"/>
          </a:xfrm>
          <a:prstGeom prst="rect">
            <a:avLst/>
          </a:prstGeom>
        </p:spPr>
      </p:pic>
      <p:pic>
        <p:nvPicPr>
          <p:cNvPr id="23" name="OTag">
            <a:extLst>
              <a:ext uri="{FF2B5EF4-FFF2-40B4-BE49-F238E27FC236}">
                <a16:creationId xmlns:a16="http://schemas.microsoft.com/office/drawing/2014/main" id="{000C5F04-372F-427E-81C5-11434B356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217" y="6355080"/>
            <a:ext cx="502920" cy="502920"/>
          </a:xfrm>
          <a:prstGeom prst="rect">
            <a:avLst/>
          </a:prstGeom>
        </p:spPr>
      </p:pic>
      <p:sp>
        <p:nvSpPr>
          <p:cNvPr id="4" name="Content">
            <a:extLst>
              <a:ext uri="{FF2B5EF4-FFF2-40B4-BE49-F238E27FC236}">
                <a16:creationId xmlns:a16="http://schemas.microsoft.com/office/drawing/2014/main" id="{6FFB33C6-31EA-4D15-AC3F-377D699FA84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5225" y="4649788"/>
            <a:ext cx="5072063" cy="14573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3AB0E-EC5F-476F-B6A9-E6F9CE84E9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3900" y="1600200"/>
            <a:ext cx="5072063" cy="2415700"/>
          </a:xfrm>
        </p:spPr>
        <p:txBody>
          <a:bodyPr anchor="b" anchorCtr="0"/>
          <a:lstStyle>
            <a:lvl1pPr>
              <a:defRPr sz="8000" b="1">
                <a:solidFill>
                  <a:srgbClr val="AE562C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EF74DF-FD68-4CDF-B4CE-342E7A165BC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9C4B030-1E0B-4CB0-87B4-DF607257368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ADD7B5-9676-40DE-A88A-5EC3D33A65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5730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- Met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B54DF6-D8D9-3E4B-A5D4-8DB1B36A21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97"/>
          <a:stretch/>
        </p:blipFill>
        <p:spPr>
          <a:xfrm>
            <a:off x="6096000" y="0"/>
            <a:ext cx="6096348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E8A7F756-6885-FD4D-8CAC-01911AF99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4" name="Content">
            <a:extLst>
              <a:ext uri="{FF2B5EF4-FFF2-40B4-BE49-F238E27FC236}">
                <a16:creationId xmlns:a16="http://schemas.microsoft.com/office/drawing/2014/main" id="{6FFB33C6-31EA-4D15-AC3F-377D699FA84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5225" y="4649788"/>
            <a:ext cx="5072063" cy="14573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2A6D6F1-EBC4-4335-819B-433720EB17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3900" y="1600200"/>
            <a:ext cx="5085287" cy="2415700"/>
          </a:xfrm>
        </p:spPr>
        <p:txBody>
          <a:bodyPr anchor="b" anchorCtr="0"/>
          <a:lstStyle>
            <a:lvl1pPr>
              <a:defRPr sz="8000" b="1">
                <a:solidFill>
                  <a:srgbClr val="759C6C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58375C-46BC-48EA-9DFC-3DF06967D7C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2DF6E-494A-4D98-888D-68B724E489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C2851-E9BE-4691-AE94-635936A6677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182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Data Texture 07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681203-42C6-B54E-A5F8-FE2DAE3C0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OTag">
            <a:extLst>
              <a:ext uri="{FF2B5EF4-FFF2-40B4-BE49-F238E27FC236}">
                <a16:creationId xmlns:a16="http://schemas.microsoft.com/office/drawing/2014/main" id="{B620A016-1EBE-426A-BB19-967122948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DFA4C3-C577-4944-B23B-0E8CEECA0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48FBC-C180-4348-924F-1AD0DE33E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93164-8F12-4A57-BCB2-ECAB88B10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953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- Data Texture 07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8B6F3C-673A-2C4F-BDD8-A174DA9D4B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C6ADE0F8-03AA-E84C-A08A-799EE14D7CA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DF2B49-8199-43EF-9C31-2EE3E2278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0A680-202A-4EB8-8426-F81FE6C1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7B772-BB21-406A-A2FE-5A7147467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0417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Data Texture 16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8A9AF7-F5CE-844F-BBE4-0C983CB99B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82323826-2F7C-DC44-94F9-0225962BE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9127AD-303E-4148-925B-F8D854942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7CD67-74FC-43EC-912B-8B74B34E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119101-EC6A-4B95-9940-BAB31432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690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- Data Texture 16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CF9FCE-AE1C-564C-8F89-B5CD38A47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82323826-2F7C-DC44-94F9-0225962BE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E7266-CBC0-47D9-85A0-91E01109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38588-07BC-4F98-97FA-975AE1443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8B57A4-1EA3-47FA-AD37-31BB82676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665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Data Texture 19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7712D2-1637-4940-A323-42EBA61AD5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F4939B61-9B7E-A240-8CE9-7E014F78E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BA956C-AFD4-4D95-9304-BB81E2E12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782E6-C6D7-4588-8CDE-8BB252C53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D6286E-40B3-4954-877E-F88E2191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8564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- Data Texture 19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D5B665-2B39-6645-BF1F-C5F9BD830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F4939B61-9B7E-A240-8CE9-7E014F78E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7CFD62-A920-45CB-9691-083BA5642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B8371-BFE0-4C4C-9EC8-651A59790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C47787-CD64-4386-A100-73FB94F8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013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649C3E4A-56A6-4657-815D-5F0928FEF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681B7FDB-21AD-43D3-9629-6865ECE7A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Date Placeholder">
            <a:extLst>
              <a:ext uri="{FF2B5EF4-FFF2-40B4-BE49-F238E27FC236}">
                <a16:creationId xmlns:a16="http://schemas.microsoft.com/office/drawing/2014/main" id="{2872A553-B5A6-4603-91A2-FF76401D8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13852C-D243-4D5A-B7E1-09812A4D6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7F3825-1D38-4C39-8F70-C060E9BEE3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2000" y="1609725"/>
            <a:ext cx="10687050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571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8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649C3E4A-56A6-4657-815D-5F0928FEF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681B7FDB-21AD-43D3-9629-6865ECE7A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Date Placeholder">
            <a:extLst>
              <a:ext uri="{FF2B5EF4-FFF2-40B4-BE49-F238E27FC236}">
                <a16:creationId xmlns:a16="http://schemas.microsoft.com/office/drawing/2014/main" id="{2872A553-B5A6-4603-91A2-FF76401D8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612D05-859A-4FDE-924B-FB91696215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7BB3CE-1E42-4557-A754-EAB09439D6F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2000" y="1609725"/>
            <a:ext cx="10677525" cy="450799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6856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Safe Harb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F7C5FACA-CB69-F341-96EC-260102929140}"/>
              </a:ext>
            </a:extLst>
          </p:cNvPr>
          <p:cNvSpPr txBox="1"/>
          <p:nvPr/>
        </p:nvSpPr>
        <p:spPr>
          <a:xfrm>
            <a:off x="766762" y="184150"/>
            <a:ext cx="10671048" cy="8229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lvl="0" indent="0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baseline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  <a:latin typeface="+mn-lt"/>
                <a:cs typeface="Oracle Sans Tab" panose="020B0503020204020204" pitchFamily="34" charset="0"/>
              </a:rPr>
              <a:t>Safe harbor statement</a:t>
            </a:r>
          </a:p>
        </p:txBody>
      </p:sp>
      <p:sp>
        <p:nvSpPr>
          <p:cNvPr id="14" name="Text Field">
            <a:extLst>
              <a:ext uri="{FF2B5EF4-FFF2-40B4-BE49-F238E27FC236}">
                <a16:creationId xmlns:a16="http://schemas.microsoft.com/office/drawing/2014/main" id="{EA78FDD8-084D-2D41-A37D-7DE0C431B1DA}"/>
              </a:ext>
            </a:extLst>
          </p:cNvPr>
          <p:cNvSpPr txBox="1"/>
          <p:nvPr/>
        </p:nvSpPr>
        <p:spPr>
          <a:xfrm>
            <a:off x="766762" y="1608421"/>
            <a:ext cx="7987939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8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of August 2020, for most presentations, a safe harbor statement is no longer required, and you will not need to use this slide.  </a:t>
            </a:r>
            <a:br>
              <a:rPr lang="en-US" sz="18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800" b="0" i="0" u="none" strike="noStrike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forward looking statement safe harbor slide is required ONLY for external presentations that pertain to: product launches, executive presentations and keynotes at major events, and any event attended by financial analysts.</a:t>
            </a:r>
          </a:p>
          <a:p>
            <a:endParaRPr lang="en-US" sz="1800" b="0" i="0" u="none" strike="noStrike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/>
              <a:t>The notice is available at the </a:t>
            </a:r>
            <a:r>
              <a:rPr lang="en-US" u="sng">
                <a:solidFill>
                  <a:srgbClr val="00688C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Safe Harbor Confluence Page</a:t>
            </a:r>
            <a:endParaRPr lang="en-US">
              <a:solidFill>
                <a:srgbClr val="00688C"/>
              </a:solidFill>
            </a:endParaRPr>
          </a:p>
          <a:p>
            <a:r>
              <a:rPr lang="en-US"/>
              <a:t>Contact for Forward Looking Statement: </a:t>
            </a:r>
            <a:r>
              <a:rPr lang="en-US" u="sng">
                <a:solidFill>
                  <a:srgbClr val="00688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quietperiod_ww_grp@oracle.com</a:t>
            </a:r>
            <a:endParaRPr lang="en-US">
              <a:solidFill>
                <a:srgbClr val="00688C"/>
              </a:solidFill>
            </a:endParaRPr>
          </a:p>
        </p:txBody>
      </p:sp>
      <p:pic>
        <p:nvPicPr>
          <p:cNvPr id="10" name="Cloud">
            <a:extLst>
              <a:ext uri="{FF2B5EF4-FFF2-40B4-BE49-F238E27FC236}">
                <a16:creationId xmlns:a16="http://schemas.microsoft.com/office/drawing/2014/main" id="{2FCEE6FC-E7A1-9745-9FBA-161384F6B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6204017" y="3432466"/>
            <a:ext cx="5987981" cy="2780569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96628B-0EF0-416B-9E8E-3931DFCB9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B72738-3834-418C-9636-B18B1A182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840CC-B289-4EEE-9D6C-A6440E686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443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- Safe Harb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loud">
            <a:extLst>
              <a:ext uri="{FF2B5EF4-FFF2-40B4-BE49-F238E27FC236}">
                <a16:creationId xmlns:a16="http://schemas.microsoft.com/office/drawing/2014/main" id="{3BD55515-3A50-4D53-9758-E4F305E6B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6204017" y="3432466"/>
            <a:ext cx="5987981" cy="2780570"/>
          </a:xfrm>
          <a:prstGeom prst="rect">
            <a:avLst/>
          </a:prstGeom>
        </p:spPr>
      </p:pic>
      <p:sp>
        <p:nvSpPr>
          <p:cNvPr id="9" name="Title">
            <a:extLst>
              <a:ext uri="{FF2B5EF4-FFF2-40B4-BE49-F238E27FC236}">
                <a16:creationId xmlns:a16="http://schemas.microsoft.com/office/drawing/2014/main" id="{6F52D25E-1040-40B8-8DE7-5AFF601E5501}"/>
              </a:ext>
            </a:extLst>
          </p:cNvPr>
          <p:cNvSpPr txBox="1"/>
          <p:nvPr/>
        </p:nvSpPr>
        <p:spPr>
          <a:xfrm>
            <a:off x="766762" y="184150"/>
            <a:ext cx="10671048" cy="8229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lvl="0" indent="0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baseline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  <a:latin typeface="+mn-lt"/>
                <a:cs typeface="Oracle Sans Tab" panose="020B0503020204020204" pitchFamily="34" charset="0"/>
              </a:rPr>
              <a:t>Safe harbor statement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E5158B-9671-4B44-944A-98679C6CF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87A33-7FAE-4B90-BB38-5DBBD051B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41799-4659-4B49-A776-C19D91554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ext Field">
            <a:extLst>
              <a:ext uri="{FF2B5EF4-FFF2-40B4-BE49-F238E27FC236}">
                <a16:creationId xmlns:a16="http://schemas.microsoft.com/office/drawing/2014/main" id="{CD41643C-378D-6F4E-A789-77549A3D0468}"/>
              </a:ext>
            </a:extLst>
          </p:cNvPr>
          <p:cNvSpPr txBox="1"/>
          <p:nvPr/>
        </p:nvSpPr>
        <p:spPr>
          <a:xfrm>
            <a:off x="766762" y="1608421"/>
            <a:ext cx="7987939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8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of August 2020, for most presentations, a safe harbor statement is no longer required, and you will not need to use this slide.  </a:t>
            </a:r>
            <a:br>
              <a:rPr lang="en-US" sz="18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800" b="0" i="0" u="none" strike="noStrike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forward looking statement safe harbor slide is required ONLY for external presentations that pertain to: product launches, executive presentations and keynotes at major events, and any event attended by financial analysts.</a:t>
            </a:r>
          </a:p>
          <a:p>
            <a:endParaRPr lang="en-US" sz="1800" b="0" i="0" u="none" strike="noStrike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/>
              <a:t>The notice is available at the </a:t>
            </a:r>
            <a:r>
              <a:rPr lang="en-US" u="sng">
                <a:solidFill>
                  <a:srgbClr val="F0CC7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Safe Harbor Confluence Page</a:t>
            </a:r>
            <a:endParaRPr lang="en-US">
              <a:solidFill>
                <a:srgbClr val="F0CC71"/>
              </a:solidFill>
            </a:endParaRPr>
          </a:p>
          <a:p>
            <a:r>
              <a:rPr lang="en-US"/>
              <a:t>Contact for Forward Looking Statement: </a:t>
            </a:r>
            <a:r>
              <a:rPr lang="en-US" u="sng">
                <a:solidFill>
                  <a:srgbClr val="F0CC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quietperiod_ww_grp@oracle.com</a:t>
            </a:r>
            <a:endParaRPr lang="en-US">
              <a:solidFill>
                <a:srgbClr val="F0CC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3885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Remote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EE69D29-7337-6248-888D-2A03308526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00"/>
          <a:stretch/>
        </p:blipFill>
        <p:spPr>
          <a:xfrm>
            <a:off x="4876800" y="0"/>
            <a:ext cx="7315199" cy="6858000"/>
          </a:xfrm>
          <a:prstGeom prst="rect">
            <a:avLst/>
          </a:prstGeom>
        </p:spPr>
      </p:pic>
      <p:sp>
        <p:nvSpPr>
          <p:cNvPr id="20" name="Title">
            <a:extLst>
              <a:ext uri="{FF2B5EF4-FFF2-40B4-BE49-F238E27FC236}">
                <a16:creationId xmlns:a16="http://schemas.microsoft.com/office/drawing/2014/main" id="{D94542D5-A1D6-E542-963D-B72B60EDE0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85816" y="2351724"/>
            <a:ext cx="6297167" cy="82296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2400" b="1" i="0" baseline="0"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Add title here. Also remove/replace placeholder image as needed.</a:t>
            </a:r>
          </a:p>
        </p:txBody>
      </p:sp>
      <p:sp>
        <p:nvSpPr>
          <p:cNvPr id="21" name="Text Field">
            <a:extLst>
              <a:ext uri="{FF2B5EF4-FFF2-40B4-BE49-F238E27FC236}">
                <a16:creationId xmlns:a16="http://schemas.microsoft.com/office/drawing/2014/main" id="{517ED098-6976-5549-9CFB-EE89734AF8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5816" y="3662156"/>
            <a:ext cx="6297168" cy="11324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 dirty="0"/>
              <a:t>Title</a:t>
            </a:r>
          </a:p>
          <a:p>
            <a:pPr lvl="0"/>
            <a:r>
              <a:rPr lang="en-US" dirty="0"/>
              <a:t>Company</a:t>
            </a:r>
          </a:p>
          <a:p>
            <a:pPr lvl="0"/>
            <a:r>
              <a:rPr lang="en-US" dirty="0"/>
              <a:t>Date</a:t>
            </a:r>
          </a:p>
        </p:txBody>
      </p:sp>
      <p:pic>
        <p:nvPicPr>
          <p:cNvPr id="10" name="OTag">
            <a:extLst>
              <a:ext uri="{FF2B5EF4-FFF2-40B4-BE49-F238E27FC236}">
                <a16:creationId xmlns:a16="http://schemas.microsoft.com/office/drawing/2014/main" id="{3CE1CF95-2ED4-4044-A052-7E6E1867A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F5E131-FF87-4B2F-9DB6-B4DB095B758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4876800" cy="6858000"/>
          </a:xfrm>
        </p:spPr>
        <p:txBody>
          <a:bodyPr anchor="ctr" anchorCtr="1"/>
          <a:lstStyle>
            <a:lvl1pPr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86FB79-6AF9-4538-98F2-33825A26DECE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D6A4509-AC78-4360-9126-01A3BC6609A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C2FCDC2-FBB6-46F4-9BD5-AE85C1DC3F2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831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- Remote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CB9AC92-58C2-B14E-81EA-F40548FD48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00"/>
          <a:stretch/>
        </p:blipFill>
        <p:spPr>
          <a:xfrm>
            <a:off x="4876798" y="0"/>
            <a:ext cx="7315201" cy="6858000"/>
          </a:xfrm>
          <a:prstGeom prst="rect">
            <a:avLst/>
          </a:prstGeom>
        </p:spPr>
      </p:pic>
      <p:sp>
        <p:nvSpPr>
          <p:cNvPr id="20" name="Title">
            <a:extLst>
              <a:ext uri="{FF2B5EF4-FFF2-40B4-BE49-F238E27FC236}">
                <a16:creationId xmlns:a16="http://schemas.microsoft.com/office/drawing/2014/main" id="{D94542D5-A1D6-E542-963D-B72B60EDE0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85816" y="2351724"/>
            <a:ext cx="6297167" cy="82296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2400" b="1" i="0" baseline="0"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Add title here. Also remove/replace placeholder image as needed.</a:t>
            </a:r>
          </a:p>
        </p:txBody>
      </p:sp>
      <p:sp>
        <p:nvSpPr>
          <p:cNvPr id="21" name="Text Field">
            <a:extLst>
              <a:ext uri="{FF2B5EF4-FFF2-40B4-BE49-F238E27FC236}">
                <a16:creationId xmlns:a16="http://schemas.microsoft.com/office/drawing/2014/main" id="{517ED098-6976-5549-9CFB-EE89734AF8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5816" y="3662156"/>
            <a:ext cx="6297168" cy="11324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 dirty="0"/>
              <a:t>Title</a:t>
            </a:r>
          </a:p>
          <a:p>
            <a:pPr lvl="0"/>
            <a:r>
              <a:rPr lang="en-US" dirty="0"/>
              <a:t>Company</a:t>
            </a:r>
          </a:p>
          <a:p>
            <a:pPr lvl="0"/>
            <a:r>
              <a:rPr lang="en-US" dirty="0"/>
              <a:t>Date</a:t>
            </a:r>
          </a:p>
        </p:txBody>
      </p:sp>
      <p:pic>
        <p:nvPicPr>
          <p:cNvPr id="10" name="OTag">
            <a:extLst>
              <a:ext uri="{FF2B5EF4-FFF2-40B4-BE49-F238E27FC236}">
                <a16:creationId xmlns:a16="http://schemas.microsoft.com/office/drawing/2014/main" id="{3AA2A5D2-AD0A-4DBD-927A-96DC377BC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EB6C0-1F5B-4135-8E18-A04A68550D7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4876800" cy="6858000"/>
          </a:xfrm>
        </p:spPr>
        <p:txBody>
          <a:bodyPr anchor="ctr" anchorCtr="1">
            <a:normAutofit/>
          </a:bodyPr>
          <a:lstStyle>
            <a:lvl1pPr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22B3ED-CF2C-4067-92C1-D268C952FB0E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CE0BF7F-49D0-4680-97A6-57F3353BC736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FD3ACE9-71BB-462A-B503-22DE7B536BD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8933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Quote with Data Tex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Data Texture Image">
            <a:extLst>
              <a:ext uri="{FF2B5EF4-FFF2-40B4-BE49-F238E27FC236}">
                <a16:creationId xmlns:a16="http://schemas.microsoft.com/office/drawing/2014/main" id="{B04AAB1E-3886-45C0-9EE7-ABD1360D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8"/>
          </a:xfrm>
          <a:prstGeom prst="rect">
            <a:avLst/>
          </a:prstGeom>
          <a:ln>
            <a:noFill/>
          </a:ln>
        </p:spPr>
      </p:pic>
      <p:pic>
        <p:nvPicPr>
          <p:cNvPr id="30" name="OTag">
            <a:extLst>
              <a:ext uri="{FF2B5EF4-FFF2-40B4-BE49-F238E27FC236}">
                <a16:creationId xmlns:a16="http://schemas.microsoft.com/office/drawing/2014/main" id="{7DC71B8D-1AA8-1D49-9770-9D8CD0F61F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BA19B719-F896-40D2-A59B-8E51E7D4BB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8800"/>
            <a:ext cx="8049200" cy="2026447"/>
          </a:xfrm>
          <a:noFill/>
        </p:spPr>
        <p:txBody>
          <a:bodyPr vert="horz" wrap="square" lIns="0" tIns="0" rIns="0" bIns="0" rtlCol="0" anchor="b" anchorCtr="0">
            <a:noAutofit/>
          </a:bodyPr>
          <a:lstStyle>
            <a:lvl1pPr>
              <a:lnSpc>
                <a:spcPct val="100000"/>
              </a:lnSpc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“Click to type customer or partner quote surrounded by quotation marks.” Remove/replace placeholder logo as needed.</a:t>
            </a:r>
          </a:p>
        </p:txBody>
      </p:sp>
      <p:sp>
        <p:nvSpPr>
          <p:cNvPr id="13" name="Text Field">
            <a:extLst>
              <a:ext uri="{FF2B5EF4-FFF2-40B4-BE49-F238E27FC236}">
                <a16:creationId xmlns:a16="http://schemas.microsoft.com/office/drawing/2014/main" id="{B09058E5-A74E-C340-89D0-4D15C2F3B8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1999" y="4540249"/>
            <a:ext cx="5333999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 of person quoted</a:t>
            </a:r>
          </a:p>
        </p:txBody>
      </p:sp>
      <p:sp>
        <p:nvSpPr>
          <p:cNvPr id="12" name="Text Field 2">
            <a:extLst>
              <a:ext uri="{FF2B5EF4-FFF2-40B4-BE49-F238E27FC236}">
                <a16:creationId xmlns:a16="http://schemas.microsoft.com/office/drawing/2014/main" id="{36C31D35-A48A-6B46-A3DB-FDB99CCA72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1999" y="4877842"/>
            <a:ext cx="5333999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Additional information if needed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14A2E81-7AA0-4954-BF7E-C076C41AF7C6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771067" y="1013988"/>
            <a:ext cx="2944208" cy="81481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logo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7ECA2C-4CF8-48ED-893A-2958F9909B90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4FDBCE-E35C-4859-AD9D-93665BD69FD5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5130C2-E640-4887-BCA9-090F40084C88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65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- Quote with Data Tex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Data Texture Image">
            <a:extLst>
              <a:ext uri="{FF2B5EF4-FFF2-40B4-BE49-F238E27FC236}">
                <a16:creationId xmlns:a16="http://schemas.microsoft.com/office/drawing/2014/main" id="{8A6273FB-BF91-403E-A6FD-7515A6D8B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0" name="OTag">
            <a:extLst>
              <a:ext uri="{FF2B5EF4-FFF2-40B4-BE49-F238E27FC236}">
                <a16:creationId xmlns:a16="http://schemas.microsoft.com/office/drawing/2014/main" id="{7DC71B8D-1AA8-1D49-9770-9D8CD0F61F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Quote">
            <a:extLst>
              <a:ext uri="{FF2B5EF4-FFF2-40B4-BE49-F238E27FC236}">
                <a16:creationId xmlns:a16="http://schemas.microsoft.com/office/drawing/2014/main" id="{70860AE5-51F4-4600-B7C5-0FFE1F5EE8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8800"/>
            <a:ext cx="8022040" cy="1963350"/>
          </a:xfrm>
          <a:noFill/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“Click to type customer or partner quote surrounded by quotation marks.” Remove/replace placeholder logo as needed.</a:t>
            </a:r>
          </a:p>
        </p:txBody>
      </p:sp>
      <p:sp>
        <p:nvSpPr>
          <p:cNvPr id="13" name="Text Field">
            <a:extLst>
              <a:ext uri="{FF2B5EF4-FFF2-40B4-BE49-F238E27FC236}">
                <a16:creationId xmlns:a16="http://schemas.microsoft.com/office/drawing/2014/main" id="{B09058E5-A74E-C340-89D0-4D15C2F3B8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1999" y="4540249"/>
            <a:ext cx="5333999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 of person quoted</a:t>
            </a:r>
          </a:p>
        </p:txBody>
      </p:sp>
      <p:sp>
        <p:nvSpPr>
          <p:cNvPr id="12" name="Text Field 2">
            <a:extLst>
              <a:ext uri="{FF2B5EF4-FFF2-40B4-BE49-F238E27FC236}">
                <a16:creationId xmlns:a16="http://schemas.microsoft.com/office/drawing/2014/main" id="{36C31D35-A48A-6B46-A3DB-FDB99CCA72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1999" y="4877842"/>
            <a:ext cx="5333999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Additional information if needed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CF70D2C9-2534-48AA-9A8A-D82D5A31B2F9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771067" y="1013988"/>
            <a:ext cx="2944208" cy="81481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logo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626C9C3-D9C8-4222-B161-D7AF97BC1F41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C126A-0D05-424A-A6C2-80119CEAE618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D685BD-0D80-40FF-88C3-58BBDF890F03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99806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Quot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uote">
            <a:extLst>
              <a:ext uri="{FF2B5EF4-FFF2-40B4-BE49-F238E27FC236}">
                <a16:creationId xmlns:a16="http://schemas.microsoft.com/office/drawing/2014/main" id="{A13E52A3-3B72-407D-BD94-ADB27B9FC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2844" y="2434528"/>
            <a:ext cx="6067096" cy="1846659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3000" b="0" dirty="0">
                <a:latin typeface="+mj-lt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“Click to type customer or partner quote surrounded by quotation marks.” Remove/replace placeholder image as needed.</a:t>
            </a:r>
          </a:p>
        </p:txBody>
      </p:sp>
      <p:sp>
        <p:nvSpPr>
          <p:cNvPr id="13" name="Text Field">
            <a:extLst>
              <a:ext uri="{FF2B5EF4-FFF2-40B4-BE49-F238E27FC236}">
                <a16:creationId xmlns:a16="http://schemas.microsoft.com/office/drawing/2014/main" id="{04A571F4-71E4-264A-BBD5-0475995E68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72844" y="4983135"/>
            <a:ext cx="6054629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 of person quoted</a:t>
            </a:r>
          </a:p>
        </p:txBody>
      </p:sp>
      <p:sp>
        <p:nvSpPr>
          <p:cNvPr id="11" name="Text Field 2">
            <a:extLst>
              <a:ext uri="{FF2B5EF4-FFF2-40B4-BE49-F238E27FC236}">
                <a16:creationId xmlns:a16="http://schemas.microsoft.com/office/drawing/2014/main" id="{CBFB97F9-F988-C34C-8B6D-BB4A4D8817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72844" y="5320728"/>
            <a:ext cx="6054629" cy="7863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Additional information if needed</a:t>
            </a:r>
          </a:p>
        </p:txBody>
      </p:sp>
      <p:pic>
        <p:nvPicPr>
          <p:cNvPr id="15" name="OTag">
            <a:extLst>
              <a:ext uri="{FF2B5EF4-FFF2-40B4-BE49-F238E27FC236}">
                <a16:creationId xmlns:a16="http://schemas.microsoft.com/office/drawing/2014/main" id="{D79573CA-7EF3-46CE-91D4-01D1A2F17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F9EF32-2876-8841-ADB8-707F8BDB8530}"/>
              </a:ext>
            </a:extLst>
          </p:cNvPr>
          <p:cNvSpPr txBox="1"/>
          <p:nvPr/>
        </p:nvSpPr>
        <p:spPr>
          <a:xfrm>
            <a:off x="1295730" y="3244334"/>
            <a:ext cx="2285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2"/>
                </a:solidFill>
              </a:rPr>
              <a:t>Click to add image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48F56FAF-A389-4DEC-BCB5-7C2BCDEBE166}"/>
              </a:ext>
            </a:extLst>
          </p:cNvPr>
          <p:cNvSpPr>
            <a:spLocks noGrp="1" noChangeAspect="1"/>
          </p:cNvSpPr>
          <p:nvPr>
            <p:ph type="pic" sz="quarter" idx="41" hasCustomPrompt="1"/>
          </p:nvPr>
        </p:nvSpPr>
        <p:spPr>
          <a:xfrm>
            <a:off x="5434085" y="1206535"/>
            <a:ext cx="2944208" cy="841248"/>
          </a:xfrm>
        </p:spPr>
        <p:txBody>
          <a:bodyPr anchor="ctr" anchorCtr="1"/>
          <a:lstStyle>
            <a:lvl1pPr>
              <a:defRPr/>
            </a:lvl1pPr>
          </a:lstStyle>
          <a:p>
            <a:r>
              <a:rPr lang="en-US"/>
              <a:t>Click to add logo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5069B-D056-45AF-BC91-ABDBFD0C3D1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0" y="0"/>
            <a:ext cx="4876800" cy="6858000"/>
          </a:xfrm>
        </p:spPr>
        <p:txBody>
          <a:bodyPr anchor="ctr" anchorCtr="1"/>
          <a:lstStyle>
            <a:lvl1pPr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7CAF2-5875-4790-8762-15A8CDD16E08}"/>
              </a:ext>
            </a:extLst>
          </p:cNvPr>
          <p:cNvSpPr>
            <a:spLocks noGrp="1"/>
          </p:cNvSpPr>
          <p:nvPr>
            <p:ph type="dt" sz="half" idx="43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75504-AA80-48D0-ABE0-C3B4B0480FBA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A2E22D8-777D-4A4E-8190-9C7E9654A636}"/>
              </a:ext>
            </a:extLst>
          </p:cNvPr>
          <p:cNvSpPr>
            <a:spLocks noGrp="1"/>
          </p:cNvSpPr>
          <p:nvPr>
            <p:ph type="sldNum" sz="quarter" idx="45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2855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- Quot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uote">
            <a:extLst>
              <a:ext uri="{FF2B5EF4-FFF2-40B4-BE49-F238E27FC236}">
                <a16:creationId xmlns:a16="http://schemas.microsoft.com/office/drawing/2014/main" id="{E7972264-22BA-4EDF-A0AC-13C683A7DA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8728" y="2435027"/>
            <a:ext cx="6051272" cy="1846659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3000" b="0">
                <a:latin typeface="+mj-lt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“Click to type customer or partner quote surrounded by quotation marks.” Remove/replace placeholder image as needed.</a:t>
            </a:r>
          </a:p>
        </p:txBody>
      </p:sp>
      <p:sp>
        <p:nvSpPr>
          <p:cNvPr id="13" name="Text Field">
            <a:extLst>
              <a:ext uri="{FF2B5EF4-FFF2-40B4-BE49-F238E27FC236}">
                <a16:creationId xmlns:a16="http://schemas.microsoft.com/office/drawing/2014/main" id="{04A571F4-71E4-264A-BBD5-0475995E68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85816" y="4983135"/>
            <a:ext cx="6051272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 of person quoted</a:t>
            </a:r>
          </a:p>
        </p:txBody>
      </p:sp>
      <p:sp>
        <p:nvSpPr>
          <p:cNvPr id="11" name="Text Field 2">
            <a:extLst>
              <a:ext uri="{FF2B5EF4-FFF2-40B4-BE49-F238E27FC236}">
                <a16:creationId xmlns:a16="http://schemas.microsoft.com/office/drawing/2014/main" id="{CBFB97F9-F988-C34C-8B6D-BB4A4D8817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85816" y="5320728"/>
            <a:ext cx="6051272" cy="7863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Additional information if needed</a:t>
            </a:r>
          </a:p>
        </p:txBody>
      </p:sp>
      <p:pic>
        <p:nvPicPr>
          <p:cNvPr id="15" name="OTag">
            <a:extLst>
              <a:ext uri="{FF2B5EF4-FFF2-40B4-BE49-F238E27FC236}">
                <a16:creationId xmlns:a16="http://schemas.microsoft.com/office/drawing/2014/main" id="{0D7B12AA-E756-4885-BD64-8DBE9AAC5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B09CBC8C-115F-4556-A4E2-129D0E230A87}"/>
              </a:ext>
            </a:extLst>
          </p:cNvPr>
          <p:cNvSpPr>
            <a:spLocks noGrp="1" noChangeAspect="1"/>
          </p:cNvSpPr>
          <p:nvPr>
            <p:ph type="pic" sz="quarter" idx="41" hasCustomPrompt="1"/>
          </p:nvPr>
        </p:nvSpPr>
        <p:spPr>
          <a:xfrm>
            <a:off x="5434085" y="1206535"/>
            <a:ext cx="2944208" cy="841248"/>
          </a:xfrm>
        </p:spPr>
        <p:txBody>
          <a:bodyPr anchor="ctr" anchorCtr="1"/>
          <a:lstStyle>
            <a:lvl1pPr>
              <a:defRPr/>
            </a:lvl1pPr>
          </a:lstStyle>
          <a:p>
            <a:r>
              <a:rPr lang="en-US"/>
              <a:t>Click to add logo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F3D1FF3-649D-46E2-9FDF-D1A77643F22A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0" y="0"/>
            <a:ext cx="4876800" cy="6858000"/>
          </a:xfrm>
        </p:spPr>
        <p:txBody>
          <a:bodyPr anchor="ctr" anchorCtr="1"/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6CAD6-29C8-4422-A48D-D8830936B44F}"/>
              </a:ext>
            </a:extLst>
          </p:cNvPr>
          <p:cNvSpPr>
            <a:spLocks noGrp="1"/>
          </p:cNvSpPr>
          <p:nvPr>
            <p:ph type="dt" sz="half" idx="43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2E353-DA56-4DDC-BA6A-8DBF5B35499D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2F77D-AAE1-49E0-8C46-83975B4AC826}"/>
              </a:ext>
            </a:extLst>
          </p:cNvPr>
          <p:cNvSpPr>
            <a:spLocks noGrp="1"/>
          </p:cNvSpPr>
          <p:nvPr>
            <p:ph type="sldNum" sz="quarter" idx="45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987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Abstract Illustration">
            <a:extLst>
              <a:ext uri="{FF2B5EF4-FFF2-40B4-BE49-F238E27FC236}">
                <a16:creationId xmlns:a16="http://schemas.microsoft.com/office/drawing/2014/main" id="{49F92AE8-C0F0-CF4B-B569-964245B00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6096000" y="4898"/>
            <a:ext cx="6096000" cy="6858000"/>
          </a:xfrm>
          <a:prstGeom prst="rect">
            <a:avLst/>
          </a:prstGeom>
        </p:spPr>
      </p:pic>
      <p:pic>
        <p:nvPicPr>
          <p:cNvPr id="26" name="OTag">
            <a:extLst>
              <a:ext uri="{FF2B5EF4-FFF2-40B4-BE49-F238E27FC236}">
                <a16:creationId xmlns:a16="http://schemas.microsoft.com/office/drawing/2014/main" id="{42D6F87D-23AA-1D42-BDBA-F6833AC9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Thank You">
            <a:extLst>
              <a:ext uri="{FF2B5EF4-FFF2-40B4-BE49-F238E27FC236}">
                <a16:creationId xmlns:a16="http://schemas.microsoft.com/office/drawing/2014/main" id="{701BFB4F-AD1A-4B21-826E-A2F61F5D8A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3482230"/>
            <a:ext cx="5022325" cy="822960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marL="0" marR="0" lvl="0" indent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tabLst/>
            </a:pPr>
            <a:r>
              <a:rPr lang="en-US" dirty="0"/>
              <a:t>Thank you</a:t>
            </a:r>
          </a:p>
        </p:txBody>
      </p:sp>
      <p:cxnSp>
        <p:nvCxnSpPr>
          <p:cNvPr id="17" name="Accent Mark">
            <a:extLst>
              <a:ext uri="{FF2B5EF4-FFF2-40B4-BE49-F238E27FC236}">
                <a16:creationId xmlns:a16="http://schemas.microsoft.com/office/drawing/2014/main" id="{067F8F82-B054-48B8-A81C-65FC099A0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68350" y="4508728"/>
            <a:ext cx="301752" cy="0"/>
          </a:xfrm>
          <a:prstGeom prst="line">
            <a:avLst/>
          </a:prstGeom>
          <a:ln w="38100" cap="flat">
            <a:solidFill>
              <a:srgbClr val="FACD6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Field">
            <a:extLst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000" y="4773585"/>
            <a:ext cx="5029200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000" y="5111178"/>
            <a:ext cx="5029200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8BC18-3443-48B2-97E6-989B7098DC52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AC1E3-E104-4942-8AE8-198E477A85F9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68FA8-1974-461B-87A5-6D7032FA1C85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7726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-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Abstract Illustration">
            <a:extLst>
              <a:ext uri="{FF2B5EF4-FFF2-40B4-BE49-F238E27FC236}">
                <a16:creationId xmlns:a16="http://schemas.microsoft.com/office/drawing/2014/main" id="{49F92AE8-C0F0-CF4B-B569-964245B00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6096000" y="4898"/>
            <a:ext cx="6096000" cy="6858000"/>
          </a:xfrm>
          <a:prstGeom prst="rect">
            <a:avLst/>
          </a:prstGeom>
        </p:spPr>
      </p:pic>
      <p:pic>
        <p:nvPicPr>
          <p:cNvPr id="26" name="OTag">
            <a:extLst>
              <a:ext uri="{FF2B5EF4-FFF2-40B4-BE49-F238E27FC236}">
                <a16:creationId xmlns:a16="http://schemas.microsoft.com/office/drawing/2014/main" id="{42D6F87D-23AA-1D42-BDBA-F6833AC9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Thank youi">
            <a:extLst>
              <a:ext uri="{FF2B5EF4-FFF2-40B4-BE49-F238E27FC236}">
                <a16:creationId xmlns:a16="http://schemas.microsoft.com/office/drawing/2014/main" id="{1F390879-C7C7-4224-97BB-1C165BFB5A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3483973"/>
            <a:ext cx="5029200" cy="822960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marL="0" marR="0" lvl="0" indent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tabLst/>
            </a:pPr>
            <a:r>
              <a:rPr lang="en-US" dirty="0"/>
              <a:t>Thank you</a:t>
            </a:r>
          </a:p>
        </p:txBody>
      </p:sp>
      <p:cxnSp>
        <p:nvCxnSpPr>
          <p:cNvPr id="17" name="Accent Mark">
            <a:extLst>
              <a:ext uri="{FF2B5EF4-FFF2-40B4-BE49-F238E27FC236}">
                <a16:creationId xmlns:a16="http://schemas.microsoft.com/office/drawing/2014/main" id="{067F8F82-B054-48B8-A81C-65FC099A0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68350" y="4508728"/>
            <a:ext cx="301752" cy="0"/>
          </a:xfrm>
          <a:prstGeom prst="line">
            <a:avLst/>
          </a:prstGeom>
          <a:ln w="38100" cap="flat">
            <a:solidFill>
              <a:srgbClr val="FACD6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Field">
            <a:extLst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000" y="4773585"/>
            <a:ext cx="5029200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000" y="5111178"/>
            <a:ext cx="5029200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BDF9E-BB65-47CA-AE22-65479E3B2B11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FFAC2-A591-4775-8C17-E779B8580987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CE80B-FDBC-4834-99C6-9621F96B934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130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racle Logo" descr="Oracle Logo">
            <a:extLst>
              <a:ext uri="{FF2B5EF4-FFF2-40B4-BE49-F238E27FC236}">
                <a16:creationId xmlns:a16="http://schemas.microsoft.com/office/drawing/2014/main" id="{675A5E3C-9B7E-1248-9024-5EE790FC68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47854" y="2915192"/>
            <a:ext cx="4896293" cy="1027617"/>
          </a:xfrm>
          <a:prstGeom prst="rect">
            <a:avLst/>
          </a:prstGeom>
        </p:spPr>
      </p:pic>
      <p:pic>
        <p:nvPicPr>
          <p:cNvPr id="4" name="OTag">
            <a:extLst>
              <a:ext uri="{FF2B5EF4-FFF2-40B4-BE49-F238E27FC236}">
                <a16:creationId xmlns:a16="http://schemas.microsoft.com/office/drawing/2014/main" id="{938EEB79-EFA1-4711-804E-DFDFA3AE4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830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- 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racle Logo" descr="Oracle Logo">
            <a:extLst>
              <a:ext uri="{FF2B5EF4-FFF2-40B4-BE49-F238E27FC236}">
                <a16:creationId xmlns:a16="http://schemas.microsoft.com/office/drawing/2014/main" id="{11C3E469-1A28-4EAE-BB94-ADAB90F021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invGray">
          <a:xfrm>
            <a:off x="3647854" y="2915192"/>
            <a:ext cx="4896292" cy="1027617"/>
          </a:xfrm>
          <a:prstGeom prst="rect">
            <a:avLst/>
          </a:prstGeom>
        </p:spPr>
      </p:pic>
      <p:pic>
        <p:nvPicPr>
          <p:cNvPr id="3" name="OTag">
            <a:extLst>
              <a:ext uri="{FF2B5EF4-FFF2-40B4-BE49-F238E27FC236}">
                <a16:creationId xmlns:a16="http://schemas.microsoft.com/office/drawing/2014/main" id="{D41E7D90-EFED-4319-B620-7C6158CCE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953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ssion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llustration">
            <a:extLst>
              <a:ext uri="{FF2B5EF4-FFF2-40B4-BE49-F238E27FC236}">
                <a16:creationId xmlns:a16="http://schemas.microsoft.com/office/drawing/2014/main" id="{7F6A0B0D-9890-B044-B4D0-946D1FDB96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4"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38CAED-6966-416F-96DE-48D3061CAD63}"/>
              </a:ext>
            </a:extLst>
          </p:cNvPr>
          <p:cNvSpPr txBox="1"/>
          <p:nvPr/>
        </p:nvSpPr>
        <p:spPr>
          <a:xfrm>
            <a:off x="768876" y="1828800"/>
            <a:ext cx="6053328" cy="2279335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lang="en-US" sz="3000" b="0" i="0" baseline="0" dirty="0">
                <a:latin typeface="+mj-lt"/>
                <a:cs typeface="+mj-cs"/>
              </a:defRPr>
            </a:lvl1pPr>
          </a:lstStyle>
          <a:p>
            <a:pPr lvl="0"/>
            <a:r>
              <a:rPr lang="en-US"/>
              <a:t>Our mission is to help people see data in new ways, discover insights,</a:t>
            </a:r>
            <a:br>
              <a:rPr lang="en-US"/>
            </a:br>
            <a:r>
              <a:rPr lang="en-US"/>
              <a:t>unlock endless possibilities.</a:t>
            </a:r>
          </a:p>
        </p:txBody>
      </p:sp>
    </p:spTree>
    <p:extLst>
      <p:ext uri="{BB962C8B-B14F-4D97-AF65-F5344CB8AC3E}">
        <p14:creationId xmlns:p14="http://schemas.microsoft.com/office/powerpoint/2010/main" val="37899124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and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lnSpc>
                <a:spcPct val="95000"/>
              </a:lnSpc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Brand (up to 2 lines)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514C47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F7D2267-8060-4E47-941D-1C718175FB56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89584B-D48B-42DB-A58B-544C997E63C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22066-27D4-4B40-9794-1047C9932F4F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5E672-3E33-44E2-B5BA-B88BAB86607B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94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and Dark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4" name="Oracle Logo" descr="Oracle Logo">
            <a:extLst>
              <a:ext uri="{FF2B5EF4-FFF2-40B4-BE49-F238E27FC236}">
                <a16:creationId xmlns:a16="http://schemas.microsoft.com/office/drawing/2014/main" id="{90869BEA-7CC8-4176-A565-8203484F77D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invGray">
          <a:xfrm>
            <a:off x="944949" y="1132368"/>
            <a:ext cx="1524893" cy="320039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lnSpc>
                <a:spcPct val="95000"/>
              </a:lnSpc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Brand (up to 2 lines)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AEA8A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9A65112-7788-4A18-8CF8-4BB5FF137EEB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3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inance / Operations 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lnSpc>
                <a:spcPct val="95000"/>
              </a:lnSpc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Finance / Operations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315357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DDAA99-266A-4A1C-9F57-ACAD7EE3F259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654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inance / Operations  Dark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907690B-2C36-41F6-BA70-4C30E0CC8E0E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4" name="Oracle Logo" descr="Oracle Logo">
            <a:extLst>
              <a:ext uri="{FF2B5EF4-FFF2-40B4-BE49-F238E27FC236}">
                <a16:creationId xmlns:a16="http://schemas.microsoft.com/office/drawing/2014/main" id="{90869BEA-7CC8-4176-A565-8203484F77D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invGray">
          <a:xfrm>
            <a:off x="944949" y="1132368"/>
            <a:ext cx="1524893" cy="320039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lnSpc>
                <a:spcPct val="95000"/>
              </a:lnSpc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Finance / Operations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89B2B0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</p:spTree>
    <p:extLst>
      <p:ext uri="{BB962C8B-B14F-4D97-AF65-F5344CB8AC3E}">
        <p14:creationId xmlns:p14="http://schemas.microsoft.com/office/powerpoint/2010/main" val="9203752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ud Platform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lnSpc>
                <a:spcPct val="95000"/>
              </a:lnSpc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Cloud Platform (up to two lines)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33553C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14DD88A-3D12-4ED2-853D-5FBC3094E39D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226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ud Platform Dark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4" name="Oracle Logo" descr="Oracle Logo">
            <a:extLst>
              <a:ext uri="{FF2B5EF4-FFF2-40B4-BE49-F238E27FC236}">
                <a16:creationId xmlns:a16="http://schemas.microsoft.com/office/drawing/2014/main" id="{90869BEA-7CC8-4176-A565-8203484F77D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invGray">
          <a:xfrm>
            <a:off x="944949" y="1132368"/>
            <a:ext cx="1524893" cy="320039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Cloud Platform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86B596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E4CB3D-1E02-49F9-B7FB-C156600EE365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6219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CM/HR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A7595F8-74F2-499E-B59F-E0985F8614CA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HCM/HR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6C3F49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</p:spTree>
    <p:extLst>
      <p:ext uri="{BB962C8B-B14F-4D97-AF65-F5344CB8AC3E}">
        <p14:creationId xmlns:p14="http://schemas.microsoft.com/office/powerpoint/2010/main" val="925142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CM/HR Dark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059DD4A-B84B-416F-AF67-08673792B601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4" name="Oracle Logo" descr="Oracle Logo">
            <a:extLst>
              <a:ext uri="{FF2B5EF4-FFF2-40B4-BE49-F238E27FC236}">
                <a16:creationId xmlns:a16="http://schemas.microsoft.com/office/drawing/2014/main" id="{90869BEA-7CC8-4176-A565-8203484F77D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invGray">
          <a:xfrm>
            <a:off x="944949" y="1132368"/>
            <a:ext cx="1524893" cy="320039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HCM/HR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CE9BA7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</p:spTree>
    <p:extLst>
      <p:ext uri="{BB962C8B-B14F-4D97-AF65-F5344CB8AC3E}">
        <p14:creationId xmlns:p14="http://schemas.microsoft.com/office/powerpoint/2010/main" val="2453147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atabase Dark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4" name="Oracle Logo" descr="Oracle Logo">
            <a:extLst>
              <a:ext uri="{FF2B5EF4-FFF2-40B4-BE49-F238E27FC236}">
                <a16:creationId xmlns:a16="http://schemas.microsoft.com/office/drawing/2014/main" id="{90869BEA-7CC8-4176-A565-8203484F77D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invGray">
          <a:xfrm>
            <a:off x="944949" y="1132368"/>
            <a:ext cx="1524893" cy="320039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Database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99ADAE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7B6FC1-B09E-452F-B386-FFE592CD500D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5308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X/Marketing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CX/Marketing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594564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3FBFA0-AD13-4C12-A92F-20A558F85DA8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15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X/Marketing Dark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4" name="Oracle Logo" descr="Oracle Logo">
            <a:extLst>
              <a:ext uri="{FF2B5EF4-FFF2-40B4-BE49-F238E27FC236}">
                <a16:creationId xmlns:a16="http://schemas.microsoft.com/office/drawing/2014/main" id="{90869BEA-7CC8-4176-A565-8203484F77D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invGray">
          <a:xfrm>
            <a:off x="944949" y="1132368"/>
            <a:ext cx="1524893" cy="320039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CX/Marketing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B7A1C4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CE04FA9-4396-4CBF-B26F-3AB639C77302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0559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veloper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Developer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494D53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0666896-EE4D-4940-8EEB-A10853BA5730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997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veloper Dark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4" name="Oracle Logo" descr="Oracle Logo">
            <a:extLst>
              <a:ext uri="{FF2B5EF4-FFF2-40B4-BE49-F238E27FC236}">
                <a16:creationId xmlns:a16="http://schemas.microsoft.com/office/drawing/2014/main" id="{90869BEA-7CC8-4176-A565-8203484F77D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invGray">
          <a:xfrm>
            <a:off x="944949" y="1132368"/>
            <a:ext cx="1524893" cy="320039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Developer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A2AAB6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5FB07A-CDEE-4CF0-82CE-4F62D716F81F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289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CM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SCM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713F2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FFCEEBC-8B55-4779-B6F6-7D71BD467A78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996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CM Dark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4" name="Oracle Logo" descr="Oracle Logo">
            <a:extLst>
              <a:ext uri="{FF2B5EF4-FFF2-40B4-BE49-F238E27FC236}">
                <a16:creationId xmlns:a16="http://schemas.microsoft.com/office/drawing/2014/main" id="{90869BEA-7CC8-4176-A565-8203484F77D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invGray">
          <a:xfrm>
            <a:off x="944949" y="1132368"/>
            <a:ext cx="1524893" cy="320039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SCM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D39F5D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93E0DD-58FE-417A-9A40-14FC48E050A7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290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BU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GBU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464C68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0F17678-159B-4E0C-BDC5-8B50F64CAD9B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051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etsuite Ligh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NetSuite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rgbClr val="2C5266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46B977C-A1F3-4584-90B9-75B6D9E246A9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529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etsuite Dark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Tag">
            <a:extLst>
              <a:ext uri="{FF2B5EF4-FFF2-40B4-BE49-F238E27FC236}">
                <a16:creationId xmlns:a16="http://schemas.microsoft.com/office/drawing/2014/main" id="{7BFEFC66-2347-E947-A49E-DD43E74C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pic>
        <p:nvPicPr>
          <p:cNvPr id="14" name="Oracle Logo" descr="Oracle Logo">
            <a:extLst>
              <a:ext uri="{FF2B5EF4-FFF2-40B4-BE49-F238E27FC236}">
                <a16:creationId xmlns:a16="http://schemas.microsoft.com/office/drawing/2014/main" id="{90869BEA-7CC8-4176-A565-8203484F77D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invGray">
          <a:xfrm>
            <a:off x="944949" y="1132368"/>
            <a:ext cx="1524893" cy="320039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NetSuite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rgbClr val="81B2C3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3683683-0F17-A94B-8A8B-9A17453B8495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222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-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B4D86BA-0324-4CFB-8752-C34AB1C7DA95}"/>
              </a:ext>
            </a:extLst>
          </p:cNvPr>
          <p:cNvSpPr/>
          <p:nvPr/>
        </p:nvSpPr>
        <p:spPr>
          <a:xfrm>
            <a:off x="783878" y="3804904"/>
            <a:ext cx="30175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8A9AF7-F5CE-844F-BBE4-0C983CB99B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82323826-2F7C-DC44-94F9-0225962BE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9127AD-303E-4148-925B-F8D854942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7CD67-74FC-43EC-912B-8B74B34E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119101-EC6A-4B95-9940-BAB31432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BEA035-D7A5-4B84-9F05-5163378E9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1" y="2337132"/>
            <a:ext cx="10158984" cy="1280160"/>
          </a:xfrm>
          <a:noFill/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95000"/>
              </a:lnSpc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divider title (up to 2 lines)</a:t>
            </a:r>
          </a:p>
        </p:txBody>
      </p:sp>
      <p:sp>
        <p:nvSpPr>
          <p:cNvPr id="9" name="Subhead">
            <a:extLst>
              <a:ext uri="{FF2B5EF4-FFF2-40B4-BE49-F238E27FC236}">
                <a16:creationId xmlns:a16="http://schemas.microsoft.com/office/drawing/2014/main" id="{7CDB1F3E-E2D2-44FE-A725-E3ED1480C83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689" y="4135193"/>
            <a:ext cx="10158984" cy="68125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</a:t>
            </a:r>
          </a:p>
        </p:txBody>
      </p:sp>
    </p:spTree>
    <p:extLst>
      <p:ext uri="{BB962C8B-B14F-4D97-AF65-F5344CB8AC3E}">
        <p14:creationId xmlns:p14="http://schemas.microsoft.com/office/powerpoint/2010/main" val="2700362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-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CF9FCE-AE1C-564C-8F89-B5CD38A47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OTag">
            <a:extLst>
              <a:ext uri="{FF2B5EF4-FFF2-40B4-BE49-F238E27FC236}">
                <a16:creationId xmlns:a16="http://schemas.microsoft.com/office/drawing/2014/main" id="{82323826-2F7C-DC44-94F9-0225962BE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E7266-CBC0-47D9-85A0-91E01109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38588-07BC-4F98-97FA-975AE1443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8B57A4-1EA3-47FA-AD37-31BB82676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43FCF3-AE26-4DE7-A6C3-3940B3E78E3F}"/>
              </a:ext>
            </a:extLst>
          </p:cNvPr>
          <p:cNvSpPr/>
          <p:nvPr/>
        </p:nvSpPr>
        <p:spPr>
          <a:xfrm>
            <a:off x="783878" y="3804904"/>
            <a:ext cx="30175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7856B97A-8557-4DB6-9175-7EBD0C893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1" y="2337132"/>
            <a:ext cx="10158984" cy="1280160"/>
          </a:xfrm>
          <a:noFill/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95000"/>
              </a:lnSpc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divider title (up to 2 lines)</a:t>
            </a:r>
          </a:p>
        </p:txBody>
      </p:sp>
      <p:sp>
        <p:nvSpPr>
          <p:cNvPr id="10" name="Subhead">
            <a:extLst>
              <a:ext uri="{FF2B5EF4-FFF2-40B4-BE49-F238E27FC236}">
                <a16:creationId xmlns:a16="http://schemas.microsoft.com/office/drawing/2014/main" id="{E9558DCD-9619-43EF-806C-010C13A1116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689" y="4135193"/>
            <a:ext cx="10158984" cy="68125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>
                <a:solidFill>
                  <a:schemeClr val="accent6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</a:t>
            </a:r>
          </a:p>
        </p:txBody>
      </p:sp>
    </p:spTree>
    <p:extLst>
      <p:ext uri="{BB962C8B-B14F-4D97-AF65-F5344CB8AC3E}">
        <p14:creationId xmlns:p14="http://schemas.microsoft.com/office/powerpoint/2010/main" val="24907529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Light Title and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B9E9CD-D1E8-2941-B6E9-04C71E3BF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37183" y="4508411"/>
            <a:ext cx="5854818" cy="23419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0E6547-E553-8B4C-B613-A55206049B2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54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7B599F-269A-4E45-BB4E-31A49D2385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96" y="783026"/>
            <a:ext cx="9887834" cy="844095"/>
          </a:xfrm>
        </p:spPr>
        <p:txBody>
          <a:bodyPr vert="horz" lIns="0" tIns="45720" rIns="0" bIns="45720" rtlCol="0" anchor="b">
            <a:noAutofit/>
          </a:bodyPr>
          <a:lstStyle>
            <a:lvl1pPr>
              <a:defRPr lang="en-US" sz="2400" b="1" i="0" baseline="0">
                <a:latin typeface="Oracle Sans" panose="020B0503020204020204" pitchFamily="34" charset="0"/>
                <a:ea typeface="+mn-ea"/>
                <a:cs typeface="Oracle Sans" panose="020B0503020204020204" pitchFamily="34" charset="0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 and Subtitle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6EFD9-8225-47A7-9DFF-A350F67E94A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68095" y="2288559"/>
            <a:ext cx="9887835" cy="3360372"/>
          </a:xfrm>
        </p:spPr>
        <p:txBody>
          <a:bodyPr lIns="0"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kern="0" spc="0" baseline="0">
                <a:solidFill>
                  <a:srgbClr val="4A362B"/>
                </a:solidFill>
                <a:latin typeface="Oracle Sans" panose="020B0503020204020204" pitchFamily="34" charset="0"/>
                <a:ea typeface="Oracle Sans" panose="020B0503020204020204" pitchFamily="34" charset="0"/>
                <a:cs typeface="Oracle Sans" panose="020B05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vitae </a:t>
            </a:r>
            <a:r>
              <a:rPr lang="en-US" dirty="0" err="1"/>
              <a:t>interdum</a:t>
            </a:r>
            <a:r>
              <a:rPr lang="en-US" dirty="0"/>
              <a:t> diam, non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 sed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4354AA-8715-3B44-8031-FEACECD4374F}"/>
              </a:ext>
            </a:extLst>
          </p:cNvPr>
          <p:cNvSpPr/>
          <p:nvPr userDrawn="1"/>
        </p:nvSpPr>
        <p:spPr>
          <a:xfrm>
            <a:off x="768096" y="1867578"/>
            <a:ext cx="310896" cy="365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0A31DDD-B87C-9941-AC16-648C97686F8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437197" y="6356350"/>
            <a:ext cx="501650" cy="5016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307A0B-BD36-4925-BB53-F5C39932C5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Confidential – © 2022 Oracle Internal/Restricted/Highly Restricted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B5254-C1BE-4BD7-AEA0-11CA078C98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371504-33D9-B044-8C50-620C44A06C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03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ght - Title_Pil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racle Logo" descr="Oracle Logo">
            <a:extLst>
              <a:ext uri="{FF2B5EF4-FFF2-40B4-BE49-F238E27FC236}">
                <a16:creationId xmlns:a16="http://schemas.microsoft.com/office/drawing/2014/main" id="{37E7F181-1615-4A41-B1E8-B9FF5CDED01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4949" y="1132368"/>
            <a:ext cx="1524893" cy="320040"/>
          </a:xfrm>
          <a:prstGeom prst="rect">
            <a:avLst/>
          </a:prstGeom>
        </p:spPr>
      </p:pic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Title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chemeClr val="accent6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</p:spTree>
    <p:extLst>
      <p:ext uri="{BB962C8B-B14F-4D97-AF65-F5344CB8AC3E}">
        <p14:creationId xmlns:p14="http://schemas.microsoft.com/office/powerpoint/2010/main" val="1888254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ght - Thank You_Pil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5342989-2257-954C-9D70-722D66CAB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50924" y="0"/>
            <a:ext cx="5641075" cy="6857999"/>
          </a:xfrm>
          <a:prstGeom prst="rect">
            <a:avLst/>
          </a:prstGeom>
        </p:spPr>
      </p:pic>
      <p:pic>
        <p:nvPicPr>
          <p:cNvPr id="26" name="OTag">
            <a:extLst>
              <a:ext uri="{FF2B5EF4-FFF2-40B4-BE49-F238E27FC236}">
                <a16:creationId xmlns:a16="http://schemas.microsoft.com/office/drawing/2014/main" id="{42D6F87D-23AA-1D42-BDBA-F6833AC9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3" name="Thank You">
            <a:extLst>
              <a:ext uri="{FF2B5EF4-FFF2-40B4-BE49-F238E27FC236}">
                <a16:creationId xmlns:a16="http://schemas.microsoft.com/office/drawing/2014/main" id="{701BFB4F-AD1A-4B21-826E-A2F61F5D8A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3482230"/>
            <a:ext cx="5022325" cy="822960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marL="0" marR="0" lvl="0" indent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tabLst/>
            </a:pPr>
            <a:r>
              <a:rPr lang="en-US" dirty="0"/>
              <a:t>Thank you</a:t>
            </a:r>
          </a:p>
        </p:txBody>
      </p:sp>
      <p:cxnSp>
        <p:nvCxnSpPr>
          <p:cNvPr id="17" name="Accent Mark">
            <a:extLst>
              <a:ext uri="{FF2B5EF4-FFF2-40B4-BE49-F238E27FC236}">
                <a16:creationId xmlns:a16="http://schemas.microsoft.com/office/drawing/2014/main" id="{067F8F82-B054-48B8-A81C-65FC099A0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68350" y="4508728"/>
            <a:ext cx="301752" cy="0"/>
          </a:xfrm>
          <a:prstGeom prst="line">
            <a:avLst/>
          </a:prstGeom>
          <a:ln w="38100" cap="flat">
            <a:solidFill>
              <a:srgbClr val="C7463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Field">
            <a:extLst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000" y="4773585"/>
            <a:ext cx="5029200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000" y="5111178"/>
            <a:ext cx="5029200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68FA8-1974-461B-87A5-6D7032FA1C85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r>
              <a:t>14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AC1E3-E104-4942-8AE8-198E477A85F9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t>Copyright © 2026, Oracle and/or its affiliates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8BC18-3443-48B2-97E6-989B7098DC52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r>
              <a:t>Oct 2026</a:t>
            </a:r>
          </a:p>
        </p:txBody>
      </p:sp>
    </p:spTree>
    <p:extLst>
      <p:ext uri="{BB962C8B-B14F-4D97-AF65-F5344CB8AC3E}">
        <p14:creationId xmlns:p14="http://schemas.microsoft.com/office/powerpoint/2010/main" val="2390906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0164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theme" Target="../theme/theme1.xml"/><Relationship Id="rId8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OTag">
            <a:extLst>
              <a:ext uri="{FF2B5EF4-FFF2-40B4-BE49-F238E27FC236}">
                <a16:creationId xmlns:a16="http://schemas.microsoft.com/office/drawing/2014/main" id="{DA16EBAD-93BE-4ACF-A78F-3C1CEDB86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12" y="6355080"/>
            <a:ext cx="502920" cy="50292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8A70F255-3C2A-4AC7-8935-184146E3B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  <p:sp>
        <p:nvSpPr>
          <p:cNvPr id="4" name="Text Field">
            <a:extLst>
              <a:ext uri="{FF2B5EF4-FFF2-40B4-BE49-F238E27FC236}">
                <a16:creationId xmlns:a16="http://schemas.microsoft.com/office/drawing/2014/main" id="{E46619B6-A626-4CDA-96E2-B94F4637C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875" y="1600200"/>
            <a:ext cx="10671048" cy="451485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08A3F6CD-49F4-D74B-8C7F-D6CA71EFB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000" y="6423660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fld id="{56FA2DC4-7506-43AB-887E-988214A4EB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8" name="Footer">
            <a:extLst>
              <a:ext uri="{FF2B5EF4-FFF2-40B4-BE49-F238E27FC236}">
                <a16:creationId xmlns:a16="http://schemas.microsoft.com/office/drawing/2014/main" id="{8E003242-6B91-1949-A5CA-15BA57A04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7759" y="6423978"/>
            <a:ext cx="574537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0" name="Date">
            <a:extLst>
              <a:ext uri="{FF2B5EF4-FFF2-40B4-BE49-F238E27FC236}">
                <a16:creationId xmlns:a16="http://schemas.microsoft.com/office/drawing/2014/main" id="{65BA88F5-EF53-415B-8446-19188BE675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73138" y="6425604"/>
            <a:ext cx="2743200" cy="363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US" sz="900" smtClean="0">
                <a:solidFill>
                  <a:srgbClr val="8B8580"/>
                </a:solidFill>
              </a:defRPr>
            </a:lvl1pPr>
          </a:lstStyle>
          <a:p>
            <a:fld id="{8FBBF4F9-BD69-40CD-A804-B04CBEA9C853}" type="datetimeFigureOut">
              <a:rPr lang="zh-CN" altLang="en-US" smtClean="0"/>
              <a:t>2026/10/13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299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5" r:id="rId64"/>
    <p:sldLayoutId id="2147483726" r:id="rId65"/>
    <p:sldLayoutId id="2147483727" r:id="rId66"/>
    <p:sldLayoutId id="2147483728" r:id="rId67"/>
    <p:sldLayoutId id="2147483729" r:id="rId68"/>
    <p:sldLayoutId id="2147483730" r:id="rId69"/>
    <p:sldLayoutId id="2147483731" r:id="rId70"/>
    <p:sldLayoutId id="2147483732" r:id="rId71"/>
    <p:sldLayoutId id="2147483734" r:id="rId72"/>
    <p:sldLayoutId id="2147483735" r:id="rId73"/>
    <p:sldLayoutId id="2147483736" r:id="rId74"/>
    <p:sldLayoutId id="2147483737" r:id="rId75"/>
    <p:sldLayoutId id="2147483749" r:id="rId76"/>
    <p:sldLayoutId id="2147483751" r:id="rId77"/>
    <p:sldLayoutId id="2147483753" r:id="rId78"/>
    <p:sldLayoutId id="2147483754" r:id="rId7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lang="en-US" sz="2400" b="1" i="0" kern="1200" baseline="0" dirty="0">
          <a:solidFill>
            <a:schemeClr val="tx1"/>
          </a:solidFill>
          <a:latin typeface="+mn-lt"/>
          <a:ea typeface="+mn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Tx/>
        <a:buFont typeface="System Font Regular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Oracle Sans Tab" panose="020B0503020204020204" pitchFamily="34" charset="0"/>
        </a:defRPr>
      </a:lvl1pPr>
      <a:lvl2pPr marL="365760" marR="0" indent="-18288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Oracle Sans Tab" panose="020B0503020204020204" pitchFamily="34" charset="0"/>
        </a:defRPr>
      </a:lvl2pPr>
      <a:lvl3pPr marL="547688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3pPr>
      <a:lvl4pPr marL="730250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4pPr>
      <a:lvl5pPr marL="914400" marR="0" indent="-182880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Tx/>
        <a:buFont typeface="System Font Regular"/>
        <a:buChar char="•"/>
        <a:tabLst/>
        <a:defRPr sz="12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SzPct val="100000"/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52">
          <p15:clr>
            <a:srgbClr val="F26B43"/>
          </p15:clr>
        </p15:guide>
        <p15:guide id="5" pos="480">
          <p15:clr>
            <a:srgbClr val="F26B43"/>
          </p15:clr>
        </p15:guide>
        <p15:guide id="6" orient="horz" pos="795">
          <p15:clr>
            <a:srgbClr val="F26B43"/>
          </p15:clr>
        </p15:guide>
        <p15:guide id="7" orient="horz" pos="590">
          <p15:clr>
            <a:srgbClr val="F26B43"/>
          </p15:clr>
        </p15:guide>
        <p15:guide id="8" pos="721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image" Target="../media/image3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image" Target="../media/image3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image" Target="../media/image3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AIOps 智能运维 Agent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基于 KBot 4.0 打造的数据库智能运维助手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SE Hub AI Virtual Team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>
            <a:r>
              <a:t>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74904"/>
            <a:ext cx="64008" cy="301752"/>
          </a:xfrm>
          <a:prstGeom prst="rect">
            <a:avLst/>
          </a:prstGeom>
          <a:solidFill>
            <a:srgbClr val="00A99D"/>
          </a:solidFill>
          <a:ln w="10160">
            <a:solidFill>
              <a:srgbClr val="00A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20040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2354A"/>
                </a:solidFill>
                <a:latin typeface="Microsoft YaHei"/>
              </a:rPr>
              <a:t>KBot AIOps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A99D"/>
                </a:solidFill>
                <a:latin typeface="Microsoft YaHei"/>
              </a:rPr>
              <a:t>01 · WHAT IS AIOPS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2354A"/>
                </a:solidFill>
                <a:latin typeface="Microsoft YaHei"/>
              </a:rPr>
              <a:t>AIOps：让运维数据、智能判断与行动闭环协同起来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572768"/>
            <a:ext cx="10881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20" b="0">
                <a:solidFill>
                  <a:srgbClr val="5D6877"/>
                </a:solidFill>
                <a:latin typeface="Microsoft YaHei"/>
              </a:rPr>
              <a:t>核心不是增加一个聊天窗口，而是改变团队发现、判断和处理问题的方式。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46520"/>
            <a:ext cx="274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A6AFBA"/>
                </a:solidFill>
                <a:latin typeface="Microsoft Ya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3474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A6AFBA"/>
                </a:solidFill>
                <a:latin typeface="Microsoft YaHei"/>
              </a:rPr>
              <a:t>Copyright © 2026, Oracle and/or its affiliates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84831"/>
            <a:ext cx="7424927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22354A"/>
                </a:solidFill>
                <a:latin typeface="Microsoft YaHei"/>
              </a:rPr>
              <a:t>以运维数据为基础，用 AI 辅助识别异常、定位原因和生成方案，
再通过流程与自动化完成处置、验证和沉淀。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18688"/>
            <a:ext cx="2240280" cy="1572768"/>
          </a:xfrm>
          <a:prstGeom prst="roundRect">
            <a:avLst/>
          </a:prstGeom>
          <a:solidFill>
            <a:srgbClr val="EAF0FB"/>
          </a:solidFill>
          <a:ln w="10160">
            <a:solidFill>
              <a:srgbClr val="EA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374136"/>
            <a:ext cx="32918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559A4"/>
                </a:solidFill>
                <a:latin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657600"/>
            <a:ext cx="186537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2354A"/>
                </a:solidFill>
                <a:latin typeface="Microsoft YaHei"/>
              </a:rPr>
              <a:t>运维数据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041648"/>
            <a:ext cx="1874519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5D6877"/>
                </a:solidFill>
                <a:latin typeface="Microsoft YaHei"/>
              </a:rPr>
              <a:t>指标 · 告警 · 日志
数据库状态 · 运维知识</a:t>
            </a:r>
          </a:p>
        </p:txBody>
      </p:sp>
      <p:sp>
        <p:nvSpPr>
          <p:cNvPr id="14" name="Chevron 13"/>
          <p:cNvSpPr/>
          <p:nvPr/>
        </p:nvSpPr>
        <p:spPr>
          <a:xfrm>
            <a:off x="2935224" y="3822191"/>
            <a:ext cx="256032" cy="347472"/>
          </a:xfrm>
          <a:prstGeom prst="chevron">
            <a:avLst/>
          </a:prstGeom>
          <a:solidFill>
            <a:srgbClr val="8C9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0400" y="3218688"/>
            <a:ext cx="2240280" cy="1572768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E6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64992" y="3374136"/>
            <a:ext cx="32918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99D"/>
                </a:solidFill>
                <a:latin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3657600"/>
            <a:ext cx="186537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2354A"/>
                </a:solidFill>
                <a:latin typeface="Microsoft YaHei"/>
              </a:rPr>
              <a:t>智能判断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4041648"/>
            <a:ext cx="1874519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5D6877"/>
                </a:solidFill>
                <a:latin typeface="Microsoft YaHei"/>
              </a:rPr>
              <a:t>理解现象 · 选择路径
评估证据 · 形成建议</a:t>
            </a:r>
          </a:p>
        </p:txBody>
      </p:sp>
      <p:sp>
        <p:nvSpPr>
          <p:cNvPr id="19" name="Chevron 18"/>
          <p:cNvSpPr/>
          <p:nvPr/>
        </p:nvSpPr>
        <p:spPr>
          <a:xfrm>
            <a:off x="5477256" y="3822191"/>
            <a:ext cx="256032" cy="347472"/>
          </a:xfrm>
          <a:prstGeom prst="chevron">
            <a:avLst/>
          </a:prstGeom>
          <a:solidFill>
            <a:srgbClr val="8C9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42431" y="3218688"/>
            <a:ext cx="2240280" cy="1572768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07023" y="3374136"/>
            <a:ext cx="32918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9A23B"/>
                </a:solidFill>
                <a:latin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7023" y="3657600"/>
            <a:ext cx="186537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2354A"/>
                </a:solidFill>
                <a:latin typeface="Microsoft YaHei"/>
              </a:rPr>
              <a:t>治理闭环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07023" y="4041648"/>
            <a:ext cx="1874519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80" b="0">
                <a:solidFill>
                  <a:srgbClr val="5D6877"/>
                </a:solidFill>
                <a:latin typeface="Microsoft YaHei"/>
              </a:rPr>
              <a:t>责任 · 审批 · 执行
验证 · 报告 · 复盘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0496" y="2176272"/>
            <a:ext cx="2880360" cy="2761488"/>
          </a:xfrm>
          <a:prstGeom prst="roundRect">
            <a:avLst/>
          </a:prstGeom>
          <a:solidFill>
            <a:srgbClr val="F5F6F8"/>
          </a:solidFill>
          <a:ln w="10160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96528" y="2450592"/>
            <a:ext cx="23774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2354A"/>
                </a:solidFill>
                <a:latin typeface="Microsoft YaHei"/>
              </a:rPr>
              <a:t>AIOps 不是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23960" y="3054096"/>
            <a:ext cx="73152" cy="73152"/>
          </a:xfrm>
          <a:prstGeom prst="rect">
            <a:avLst/>
          </a:prstGeom>
          <a:solidFill>
            <a:srgbClr val="D94B45"/>
          </a:solidFill>
          <a:ln w="10160"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61704" y="2926080"/>
            <a:ext cx="199339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30" b="0">
                <a:solidFill>
                  <a:srgbClr val="22354A"/>
                </a:solidFill>
                <a:latin typeface="Microsoft YaHei"/>
              </a:rPr>
              <a:t>监控平台的替代品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23960" y="3602736"/>
            <a:ext cx="73152" cy="73152"/>
          </a:xfrm>
          <a:prstGeom prst="rect">
            <a:avLst/>
          </a:prstGeom>
          <a:solidFill>
            <a:srgbClr val="D94B45"/>
          </a:solidFill>
          <a:ln w="10160"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61704" y="3474720"/>
            <a:ext cx="199339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30" b="0">
                <a:solidFill>
                  <a:srgbClr val="22354A"/>
                </a:solidFill>
                <a:latin typeface="Microsoft YaHei"/>
              </a:rPr>
              <a:t>只会回答问题的 Chatbot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23960" y="4151376"/>
            <a:ext cx="73152" cy="73152"/>
          </a:xfrm>
          <a:prstGeom prst="rect">
            <a:avLst/>
          </a:prstGeom>
          <a:solidFill>
            <a:srgbClr val="D94B45"/>
          </a:solidFill>
          <a:ln w="10160"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61704" y="4023360"/>
            <a:ext cx="199339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30" b="1">
                <a:solidFill>
                  <a:srgbClr val="22354A"/>
                </a:solidFill>
                <a:latin typeface="Microsoft YaHei"/>
              </a:rPr>
              <a:t>绕过责任边界的自动化脚本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" y="5340096"/>
            <a:ext cx="10972800" cy="548640"/>
          </a:xfrm>
          <a:prstGeom prst="roundRect">
            <a:avLst/>
          </a:prstGeom>
          <a:solidFill>
            <a:srgbClr val="22354A"/>
          </a:solidFill>
          <a:ln w="10160">
            <a:solidFill>
              <a:srgbClr val="22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" y="5440680"/>
            <a:ext cx="105156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Microsoft YaHei"/>
              </a:rPr>
              <a:t>从“告警发生了”走到“为什么、怎么办、做完是否有效”。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74904"/>
            <a:ext cx="64008" cy="301752"/>
          </a:xfrm>
          <a:prstGeom prst="rect">
            <a:avLst/>
          </a:prstGeom>
          <a:solidFill>
            <a:srgbClr val="00A99D"/>
          </a:solidFill>
          <a:ln w="10160">
            <a:solidFill>
              <a:srgbClr val="00A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20040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2354A"/>
                </a:solidFill>
                <a:latin typeface="Microsoft YaHei"/>
              </a:rPr>
              <a:t>KBot AIOps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A99D"/>
                </a:solidFill>
                <a:latin typeface="Microsoft YaHei"/>
              </a:rPr>
              <a:t>02 · DATABASE OPERATIONS REALITY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2354A"/>
                </a:solidFill>
                <a:latin typeface="Microsoft YaHei"/>
              </a:rPr>
              <a:t>规模起来后，问题不再是有没有工具，而是判断能否跟上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572768"/>
            <a:ext cx="10881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20" b="0">
                <a:solidFill>
                  <a:srgbClr val="5D6877"/>
                </a:solidFill>
                <a:latin typeface="Microsoft YaHei"/>
              </a:rPr>
              <a:t>大规模、多平台与海量告警，把传统依赖专家的响应方式推到了极限。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46520"/>
            <a:ext cx="274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A6AFBA"/>
                </a:solidFill>
                <a:latin typeface="Microsoft Ya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3474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A6AFBA"/>
                </a:solidFill>
                <a:latin typeface="Microsoft YaHei"/>
              </a:rPr>
              <a:t>Copyright © 2026, Oracle and/or its affiliates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4389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3559A4"/>
                </a:solidFill>
                <a:latin typeface="Microsoft YaHei"/>
              </a:rPr>
              <a:t>01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70431" y="2441448"/>
            <a:ext cx="2688337" cy="0"/>
          </a:xfrm>
          <a:prstGeom prst="line">
            <a:avLst/>
          </a:prstGeom>
          <a:ln w="20320">
            <a:solidFill>
              <a:srgbClr val="3559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2670048"/>
            <a:ext cx="324612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2354A"/>
                </a:solidFill>
                <a:latin typeface="Microsoft YaHei"/>
              </a:rPr>
              <a:t>规模与复杂度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19272"/>
            <a:ext cx="73152" cy="73152"/>
          </a:xfrm>
          <a:prstGeom prst="rect">
            <a:avLst/>
          </a:prstGeom>
          <a:solidFill>
            <a:srgbClr val="3559A4"/>
          </a:solidFill>
          <a:ln w="10160">
            <a:solidFill>
              <a:srgbClr val="3559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82112"/>
            <a:ext cx="31546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30" b="0">
                <a:solidFill>
                  <a:srgbClr val="22354A"/>
                </a:solidFill>
                <a:latin typeface="Microsoft YaHei"/>
              </a:rPr>
              <a:t>大规模部署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59352"/>
            <a:ext cx="73152" cy="73152"/>
          </a:xfrm>
          <a:prstGeom prst="rect">
            <a:avLst/>
          </a:prstGeom>
          <a:solidFill>
            <a:srgbClr val="3559A4"/>
          </a:solidFill>
          <a:ln w="10160">
            <a:solidFill>
              <a:srgbClr val="3559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22191"/>
            <a:ext cx="31546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30" b="0">
                <a:solidFill>
                  <a:srgbClr val="22354A"/>
                </a:solidFill>
                <a:latin typeface="Microsoft YaHei"/>
              </a:rPr>
              <a:t>多数据库平台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599431"/>
            <a:ext cx="73152" cy="73152"/>
          </a:xfrm>
          <a:prstGeom prst="rect">
            <a:avLst/>
          </a:prstGeom>
          <a:solidFill>
            <a:srgbClr val="3559A4"/>
          </a:solidFill>
          <a:ln w="10160">
            <a:solidFill>
              <a:srgbClr val="3559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462272"/>
            <a:ext cx="31546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30" b="0">
                <a:solidFill>
                  <a:srgbClr val="22354A"/>
                </a:solidFill>
                <a:latin typeface="Microsoft YaHei"/>
              </a:rPr>
              <a:t>工具与数据入口分散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2240280"/>
            <a:ext cx="4389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D94B45"/>
                </a:solidFill>
                <a:latin typeface="Microsoft YaHei"/>
              </a:rPr>
              <a:t>02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6320" y="2441448"/>
            <a:ext cx="2688336" cy="0"/>
          </a:xfrm>
          <a:prstGeom prst="line">
            <a:avLst/>
          </a:prstGeom>
          <a:ln w="20320">
            <a:solidFill>
              <a:srgbClr val="D94B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315968" y="2670048"/>
            <a:ext cx="324612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2354A"/>
                </a:solidFill>
                <a:latin typeface="Microsoft YaHei"/>
              </a:rPr>
              <a:t>响应与效率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3319272"/>
            <a:ext cx="73152" cy="73152"/>
          </a:xfrm>
          <a:prstGeom prst="rect">
            <a:avLst/>
          </a:prstGeom>
          <a:solidFill>
            <a:srgbClr val="D94B45"/>
          </a:solidFill>
          <a:ln w="10160"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3182112"/>
            <a:ext cx="31546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30" b="0">
                <a:solidFill>
                  <a:srgbClr val="22354A"/>
                </a:solidFill>
                <a:latin typeface="Microsoft YaHei"/>
              </a:rPr>
              <a:t>告警量巨大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5968" y="3959352"/>
            <a:ext cx="73152" cy="73152"/>
          </a:xfrm>
          <a:prstGeom prst="rect">
            <a:avLst/>
          </a:prstGeom>
          <a:solidFill>
            <a:srgbClr val="D94B45"/>
          </a:solidFill>
          <a:ln w="10160"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3822191"/>
            <a:ext cx="31546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30" b="1">
                <a:solidFill>
                  <a:srgbClr val="22354A"/>
                </a:solidFill>
                <a:latin typeface="Microsoft YaHei"/>
              </a:rPr>
              <a:t>严重告警处理不及时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15968" y="4599431"/>
            <a:ext cx="73152" cy="73152"/>
          </a:xfrm>
          <a:prstGeom prst="rect">
            <a:avLst/>
          </a:prstGeom>
          <a:solidFill>
            <a:srgbClr val="D94B45"/>
          </a:solidFill>
          <a:ln w="10160"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4462272"/>
            <a:ext cx="31546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30" b="0">
                <a:solidFill>
                  <a:srgbClr val="22354A"/>
                </a:solidFill>
                <a:latin typeface="Microsoft YaHei"/>
              </a:rPr>
              <a:t>自动化程度低 · 排障过程长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1856" y="2240280"/>
            <a:ext cx="4389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E9A23B"/>
                </a:solidFill>
                <a:latin typeface="Microsoft YaHei"/>
              </a:rPr>
              <a:t>03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22208" y="2441448"/>
            <a:ext cx="2688336" cy="0"/>
          </a:xfrm>
          <a:prstGeom prst="line">
            <a:avLst/>
          </a:prstGeom>
          <a:ln w="20320">
            <a:solidFill>
              <a:srgbClr val="E9A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991856" y="2670048"/>
            <a:ext cx="324612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2354A"/>
                </a:solidFill>
                <a:latin typeface="Microsoft YaHei"/>
              </a:rPr>
              <a:t>组织与经营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91856" y="3319272"/>
            <a:ext cx="73152" cy="73152"/>
          </a:xfrm>
          <a:prstGeom prst="rect">
            <a:avLst/>
          </a:prstGeom>
          <a:solidFill>
            <a:srgbClr val="E9A23B"/>
          </a:solidFill>
          <a:ln w="10160">
            <a:solidFill>
              <a:srgbClr val="E9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0456" y="3182112"/>
            <a:ext cx="31546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30" b="0">
                <a:solidFill>
                  <a:srgbClr val="22354A"/>
                </a:solidFill>
                <a:latin typeface="Microsoft YaHei"/>
              </a:rPr>
              <a:t>对 DBA 要求高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91856" y="3959352"/>
            <a:ext cx="73152" cy="73152"/>
          </a:xfrm>
          <a:prstGeom prst="rect">
            <a:avLst/>
          </a:prstGeom>
          <a:solidFill>
            <a:srgbClr val="E9A23B"/>
          </a:solidFill>
          <a:ln w="10160">
            <a:solidFill>
              <a:srgbClr val="E9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0456" y="3822191"/>
            <a:ext cx="31546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30" b="0">
                <a:solidFill>
                  <a:srgbClr val="22354A"/>
                </a:solidFill>
                <a:latin typeface="Microsoft YaHei"/>
              </a:rPr>
              <a:t>历史经验难以累积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91856" y="4599431"/>
            <a:ext cx="73152" cy="73152"/>
          </a:xfrm>
          <a:prstGeom prst="rect">
            <a:avLst/>
          </a:prstGeom>
          <a:solidFill>
            <a:srgbClr val="E9A23B"/>
          </a:solidFill>
          <a:ln w="10160">
            <a:solidFill>
              <a:srgbClr val="E9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0456" y="4462272"/>
            <a:ext cx="31546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30" b="0">
                <a:solidFill>
                  <a:srgbClr val="22354A"/>
                </a:solidFill>
                <a:latin typeface="Microsoft YaHei"/>
              </a:rPr>
              <a:t>企业持续要求降本增效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" y="5541264"/>
            <a:ext cx="10972800" cy="548640"/>
          </a:xfrm>
          <a:prstGeom prst="roundRect">
            <a:avLst/>
          </a:prstGeom>
          <a:solidFill>
            <a:srgbClr val="22354A"/>
          </a:solidFill>
          <a:ln w="10160">
            <a:solidFill>
              <a:srgbClr val="22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" y="5641848"/>
            <a:ext cx="105156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Microsoft YaHei"/>
              </a:rPr>
              <a:t>结果：值班人员在多个系统之间搬运信息，关键事件仍依赖少数专家临场判断。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74904"/>
            <a:ext cx="64008" cy="301752"/>
          </a:xfrm>
          <a:prstGeom prst="rect">
            <a:avLst/>
          </a:prstGeom>
          <a:solidFill>
            <a:srgbClr val="00A99D"/>
          </a:solidFill>
          <a:ln w="10160">
            <a:solidFill>
              <a:srgbClr val="00A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20040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2354A"/>
                </a:solidFill>
                <a:latin typeface="Microsoft YaHei"/>
              </a:rPr>
              <a:t>KBot AIOps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A99D"/>
                </a:solidFill>
                <a:latin typeface="Microsoft YaHei"/>
              </a:rPr>
              <a:t>03 · CORE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2354A"/>
                </a:solidFill>
                <a:latin typeface="Microsoft YaHei"/>
              </a:rPr>
              <a:t>KBot AIOps 的核心价值：把一次排障变成组织能力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572768"/>
            <a:ext cx="10881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20" b="0">
                <a:solidFill>
                  <a:srgbClr val="5D6877"/>
                </a:solidFill>
                <a:latin typeface="Microsoft YaHei"/>
              </a:rPr>
              <a:t>把分散工具与个人经验，组织成可复用、可治理、可验证的标准过程。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46520"/>
            <a:ext cx="274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A6AFBA"/>
                </a:solidFill>
                <a:latin typeface="Microsoft YaHe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3474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A6AFBA"/>
                </a:solidFill>
                <a:latin typeface="Microsoft YaHei"/>
              </a:rPr>
              <a:t>Copyright © 2026, Oracle and/or its affiliates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2139696"/>
            <a:ext cx="1975104" cy="713232"/>
          </a:xfrm>
          <a:prstGeom prst="roundRect">
            <a:avLst/>
          </a:prstGeom>
          <a:solidFill>
            <a:srgbClr val="EAF0FB"/>
          </a:solidFill>
          <a:ln w="10160">
            <a:solidFill>
              <a:srgbClr val="EA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286000"/>
            <a:ext cx="3291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3559A4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221992"/>
            <a:ext cx="13533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22354A"/>
                </a:solidFill>
                <a:latin typeface="Microsoft YaHei"/>
              </a:rPr>
              <a:t>发现异常</a:t>
            </a:r>
          </a:p>
        </p:txBody>
      </p:sp>
      <p:sp>
        <p:nvSpPr>
          <p:cNvPr id="12" name="Chevron 11"/>
          <p:cNvSpPr/>
          <p:nvPr/>
        </p:nvSpPr>
        <p:spPr>
          <a:xfrm>
            <a:off x="2624328" y="2322576"/>
            <a:ext cx="256032" cy="347472"/>
          </a:xfrm>
          <a:prstGeom prst="chevron">
            <a:avLst/>
          </a:prstGeom>
          <a:solidFill>
            <a:srgbClr val="8C9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35224" y="2139696"/>
            <a:ext cx="1975104" cy="713232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E6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72384" y="2286000"/>
            <a:ext cx="3291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00A99D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2221992"/>
            <a:ext cx="13533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22354A"/>
                </a:solidFill>
                <a:latin typeface="Microsoft YaHei"/>
              </a:rPr>
              <a:t>理解原因</a:t>
            </a:r>
          </a:p>
        </p:txBody>
      </p:sp>
      <p:sp>
        <p:nvSpPr>
          <p:cNvPr id="16" name="Chevron 15"/>
          <p:cNvSpPr/>
          <p:nvPr/>
        </p:nvSpPr>
        <p:spPr>
          <a:xfrm>
            <a:off x="4946904" y="2322576"/>
            <a:ext cx="256032" cy="347472"/>
          </a:xfrm>
          <a:prstGeom prst="chevron">
            <a:avLst/>
          </a:prstGeom>
          <a:solidFill>
            <a:srgbClr val="8C9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57800" y="2139696"/>
            <a:ext cx="1975104" cy="713232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2286000"/>
            <a:ext cx="3291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E9A23B"/>
                </a:solidFill>
                <a:latin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2221992"/>
            <a:ext cx="13533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22354A"/>
                </a:solidFill>
                <a:latin typeface="Microsoft YaHei"/>
              </a:rPr>
              <a:t>控制行动</a:t>
            </a:r>
          </a:p>
        </p:txBody>
      </p:sp>
      <p:sp>
        <p:nvSpPr>
          <p:cNvPr id="20" name="Chevron 19"/>
          <p:cNvSpPr/>
          <p:nvPr/>
        </p:nvSpPr>
        <p:spPr>
          <a:xfrm>
            <a:off x="7269480" y="2322576"/>
            <a:ext cx="256032" cy="347472"/>
          </a:xfrm>
          <a:prstGeom prst="chevron">
            <a:avLst/>
          </a:prstGeom>
          <a:solidFill>
            <a:srgbClr val="8C9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0376" y="2139696"/>
            <a:ext cx="1975104" cy="713232"/>
          </a:xfrm>
          <a:prstGeom prst="roundRect">
            <a:avLst/>
          </a:prstGeom>
          <a:solidFill>
            <a:srgbClr val="EAF0FB"/>
          </a:solidFill>
          <a:ln w="10160">
            <a:solidFill>
              <a:srgbClr val="EA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17536" y="2286000"/>
            <a:ext cx="3291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3559A4"/>
                </a:solidFill>
                <a:latin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221992"/>
            <a:ext cx="13533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22354A"/>
                </a:solidFill>
                <a:latin typeface="Microsoft YaHei"/>
              </a:rPr>
              <a:t>证明改善</a:t>
            </a:r>
          </a:p>
        </p:txBody>
      </p:sp>
      <p:sp>
        <p:nvSpPr>
          <p:cNvPr id="24" name="Chevron 23"/>
          <p:cNvSpPr/>
          <p:nvPr/>
        </p:nvSpPr>
        <p:spPr>
          <a:xfrm>
            <a:off x="9592056" y="2322576"/>
            <a:ext cx="256032" cy="347472"/>
          </a:xfrm>
          <a:prstGeom prst="chevron">
            <a:avLst/>
          </a:prstGeom>
          <a:solidFill>
            <a:srgbClr val="8C9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02952" y="2139696"/>
            <a:ext cx="1975104" cy="713232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E6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40112" y="2286000"/>
            <a:ext cx="3291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00A99D"/>
                </a:solidFill>
                <a:latin typeface="Microsoft YaHe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0152" y="2221992"/>
            <a:ext cx="13533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22354A"/>
                </a:solidFill>
                <a:latin typeface="Microsoft YaHei"/>
              </a:rPr>
              <a:t>形成资产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383280"/>
            <a:ext cx="38404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3559A4"/>
                </a:solidFill>
                <a:latin typeface="Microsoft YaHei"/>
              </a:rPr>
              <a:t>01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8368" y="3758184"/>
            <a:ext cx="2395728" cy="0"/>
          </a:xfrm>
          <a:prstGeom prst="line">
            <a:avLst/>
          </a:prstGeom>
          <a:ln w="15240">
            <a:solidFill>
              <a:srgbClr val="3559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3913632"/>
            <a:ext cx="2542032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50" b="1">
                <a:solidFill>
                  <a:srgbClr val="22354A"/>
                </a:solidFill>
                <a:latin typeface="Microsoft YaHei"/>
              </a:rPr>
              <a:t>更快进入有效分析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407408"/>
            <a:ext cx="246888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>
                <a:solidFill>
                  <a:srgbClr val="5D6877"/>
                </a:solidFill>
                <a:latin typeface="Microsoft YaHei"/>
              </a:rPr>
              <a:t>监控、数据库、知识与人工补证在同一任务中汇聚。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11296" y="3383280"/>
            <a:ext cx="38404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0A99D"/>
                </a:solidFill>
                <a:latin typeface="Microsoft YaHei"/>
              </a:rPr>
              <a:t>02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511296" y="3758184"/>
            <a:ext cx="2395728" cy="0"/>
          </a:xfrm>
          <a:prstGeom prst="line">
            <a:avLst/>
          </a:prstGeom>
          <a:ln w="15240">
            <a:solidFill>
              <a:srgbClr val="00A9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511296" y="3913632"/>
            <a:ext cx="2542032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50" b="1">
                <a:solidFill>
                  <a:srgbClr val="22354A"/>
                </a:solidFill>
                <a:latin typeface="Microsoft YaHei"/>
              </a:rPr>
              <a:t>提升判断一致性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11296" y="4407408"/>
            <a:ext cx="246888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>
                <a:solidFill>
                  <a:srgbClr val="5D6877"/>
                </a:solidFill>
                <a:latin typeface="Microsoft YaHei"/>
              </a:rPr>
              <a:t>结论带支持证据、反证、缺口与可信等级。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4224" y="3383280"/>
            <a:ext cx="38404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E9A23B"/>
                </a:solidFill>
                <a:latin typeface="Microsoft YaHei"/>
              </a:rPr>
              <a:t>03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364224" y="3758184"/>
            <a:ext cx="2395728" cy="0"/>
          </a:xfrm>
          <a:prstGeom prst="line">
            <a:avLst/>
          </a:prstGeom>
          <a:ln w="15240">
            <a:solidFill>
              <a:srgbClr val="E9A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364224" y="3913632"/>
            <a:ext cx="2542032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50" b="1">
                <a:solidFill>
                  <a:srgbClr val="22354A"/>
                </a:solidFill>
                <a:latin typeface="Microsoft YaHei"/>
              </a:rPr>
              <a:t>让行动可信可控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4224" y="4407408"/>
            <a:ext cx="246888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>
                <a:solidFill>
                  <a:srgbClr val="5D6877"/>
                </a:solidFill>
                <a:latin typeface="Microsoft YaHei"/>
              </a:rPr>
              <a:t>策略、权限、审批、执行复核和效果验证贯穿全程。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7152" y="3383280"/>
            <a:ext cx="38404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D94B45"/>
                </a:solidFill>
                <a:latin typeface="Microsoft YaHei"/>
              </a:rPr>
              <a:t>04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217152" y="3758184"/>
            <a:ext cx="2395728" cy="0"/>
          </a:xfrm>
          <a:prstGeom prst="line">
            <a:avLst/>
          </a:prstGeom>
          <a:ln w="15240">
            <a:solidFill>
              <a:srgbClr val="D94B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217152" y="3913632"/>
            <a:ext cx="2542032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50" b="1">
                <a:solidFill>
                  <a:srgbClr val="22354A"/>
                </a:solidFill>
                <a:latin typeface="Microsoft YaHei"/>
              </a:rPr>
              <a:t>把经验留给组织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17152" y="4407408"/>
            <a:ext cx="246888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0">
                <a:solidFill>
                  <a:srgbClr val="5D6877"/>
                </a:solidFill>
                <a:latin typeface="Microsoft YaHei"/>
              </a:rPr>
              <a:t>巡检、报告、知识与复盘形成可持续复用的资产。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" y="5541264"/>
            <a:ext cx="10972800" cy="548640"/>
          </a:xfrm>
          <a:prstGeom prst="roundRect">
            <a:avLst/>
          </a:prstGeom>
          <a:solidFill>
            <a:srgbClr val="22354A"/>
          </a:solidFill>
          <a:ln w="10160">
            <a:solidFill>
              <a:srgbClr val="22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" y="5641848"/>
            <a:ext cx="105156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Microsoft YaHei"/>
              </a:rPr>
              <a:t>让团队在更大运维规模下，降低对个人临场经验的依赖，持续提升响应质量与效率。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74904"/>
            <a:ext cx="64008" cy="301752"/>
          </a:xfrm>
          <a:prstGeom prst="rect">
            <a:avLst/>
          </a:prstGeom>
          <a:solidFill>
            <a:srgbClr val="00A99D"/>
          </a:solidFill>
          <a:ln w="10160">
            <a:solidFill>
              <a:srgbClr val="00A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20040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2354A"/>
                </a:solidFill>
                <a:latin typeface="Microsoft YaHei"/>
              </a:rPr>
              <a:t>KBot AIOps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A99D"/>
                </a:solidFill>
                <a:latin typeface="Microsoft YaHei"/>
              </a:rPr>
              <a:t>04 · CAPABILITY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2354A"/>
                </a:solidFill>
                <a:latin typeface="Microsoft YaHei"/>
              </a:rPr>
              <a:t>六类能力，围绕一次运维事件协同工作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572768"/>
            <a:ext cx="10881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20" b="0">
                <a:solidFill>
                  <a:srgbClr val="5D6877"/>
                </a:solidFill>
                <a:latin typeface="Microsoft YaHei"/>
              </a:rPr>
              <a:t>不是六个孤立菜单，而是一条从发现到沉淀的共同工作流。右侧为当前测试页面。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46520"/>
            <a:ext cx="274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A6AFBA"/>
                </a:solidFill>
                <a:latin typeface="Microsoft YaHe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3474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A6AFBA"/>
                </a:solidFill>
                <a:latin typeface="Microsoft YaHei"/>
              </a:rPr>
              <a:t>Copyright © 2026, Oracle and/or its affiliates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84831"/>
            <a:ext cx="34747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99D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029968"/>
            <a:ext cx="157276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20" b="1">
                <a:solidFill>
                  <a:srgbClr val="22354A"/>
                </a:solidFill>
                <a:latin typeface="Microsoft YaHei"/>
              </a:rPr>
              <a:t>统一工作台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2039112"/>
            <a:ext cx="212140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D6877"/>
                </a:solidFill>
                <a:latin typeface="Microsoft YaHei"/>
              </a:rPr>
              <a:t>汇聚任务、责任与处理状态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2487168"/>
            <a:ext cx="4005072" cy="0"/>
          </a:xfrm>
          <a:prstGeom prst="line">
            <a:avLst/>
          </a:prstGeom>
          <a:ln w="762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2679191"/>
            <a:ext cx="34747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559A4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624328"/>
            <a:ext cx="157276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20" b="1">
                <a:solidFill>
                  <a:srgbClr val="22354A"/>
                </a:solidFill>
                <a:latin typeface="Microsoft YaHei"/>
              </a:rPr>
              <a:t>实时监控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2633472"/>
            <a:ext cx="212140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D6877"/>
                </a:solidFill>
                <a:latin typeface="Microsoft YaHei"/>
              </a:rPr>
              <a:t>看清对象健康与关键趋势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3081528"/>
            <a:ext cx="4005072" cy="0"/>
          </a:xfrm>
          <a:prstGeom prst="line">
            <a:avLst/>
          </a:prstGeom>
          <a:ln w="762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3273552"/>
            <a:ext cx="34747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559A4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218688"/>
            <a:ext cx="157276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20" b="1">
                <a:solidFill>
                  <a:srgbClr val="22354A"/>
                </a:solidFill>
                <a:latin typeface="Microsoft YaHei"/>
              </a:rPr>
              <a:t>告警诊断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3227832"/>
            <a:ext cx="212140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D6877"/>
                </a:solidFill>
                <a:latin typeface="Microsoft YaHei"/>
              </a:rPr>
              <a:t>让严重事件及时进入闭环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3675888"/>
            <a:ext cx="4005072" cy="0"/>
          </a:xfrm>
          <a:prstGeom prst="line">
            <a:avLst/>
          </a:prstGeom>
          <a:ln w="762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3867912"/>
            <a:ext cx="34747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99D"/>
                </a:solidFill>
                <a:latin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3813048"/>
            <a:ext cx="157276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20" b="1">
                <a:solidFill>
                  <a:srgbClr val="22354A"/>
                </a:solidFill>
                <a:latin typeface="Microsoft YaHei"/>
              </a:rPr>
              <a:t>智能运维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2032" y="3822192"/>
            <a:ext cx="212140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D6877"/>
                </a:solidFill>
                <a:latin typeface="Microsoft YaHei"/>
              </a:rPr>
              <a:t>用证据缩短定位与协作链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4270248"/>
            <a:ext cx="4005072" cy="0"/>
          </a:xfrm>
          <a:prstGeom prst="line">
            <a:avLst/>
          </a:prstGeom>
          <a:ln w="762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4462272"/>
            <a:ext cx="34747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559A4"/>
                </a:solidFill>
                <a:latin typeface="Microsoft YaHe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4407408"/>
            <a:ext cx="157276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20" b="1">
                <a:solidFill>
                  <a:srgbClr val="22354A"/>
                </a:solidFill>
                <a:latin typeface="Microsoft YaHei"/>
              </a:rPr>
              <a:t>巡检与报告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2032" y="4416552"/>
            <a:ext cx="212140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D6877"/>
                </a:solidFill>
                <a:latin typeface="Microsoft YaHei"/>
              </a:rPr>
              <a:t>把周期工作变成标准输出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4864608"/>
            <a:ext cx="4005072" cy="0"/>
          </a:xfrm>
          <a:prstGeom prst="line">
            <a:avLst/>
          </a:prstGeom>
          <a:ln w="762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5056631"/>
            <a:ext cx="34747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0A99D"/>
                </a:solidFill>
                <a:latin typeface="Microsoft YaHe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5001768"/>
            <a:ext cx="157276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20" b="1">
                <a:solidFill>
                  <a:srgbClr val="22354A"/>
                </a:solidFill>
                <a:latin typeface="Microsoft YaHei"/>
              </a:rPr>
              <a:t>运维知识库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42032" y="5010912"/>
            <a:ext cx="212140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D6877"/>
                </a:solidFill>
                <a:latin typeface="Microsoft YaHei"/>
              </a:rPr>
              <a:t>让历史经验可审核、可复用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2039112"/>
            <a:ext cx="6510528" cy="3657600"/>
          </a:xfrm>
          <a:prstGeom prst="roundRect">
            <a:avLst/>
          </a:prstGeom>
          <a:solidFill>
            <a:srgbClr val="D7DCE4"/>
          </a:solidFill>
          <a:ln w="1016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替换截图_05_AIOps工作台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064" y="1965960"/>
            <a:ext cx="6400800" cy="3602736"/>
          </a:xfrm>
          <a:prstGeom prst="rect">
            <a:avLst/>
          </a:prstGeom>
          <a:ln w="10160">
            <a:solidFill>
              <a:srgbClr val="C7CDD6"/>
            </a:solidFill>
          </a:ln>
        </p:spPr>
      </p:pic>
      <p:sp>
        <p:nvSpPr>
          <p:cNvPr id="34" name="Rectangle 33"/>
          <p:cNvSpPr/>
          <p:nvPr/>
        </p:nvSpPr>
        <p:spPr>
          <a:xfrm>
            <a:off x="5084064" y="5568696"/>
            <a:ext cx="6400800" cy="347472"/>
          </a:xfrm>
          <a:prstGeom prst="rect">
            <a:avLst/>
          </a:prstGeom>
          <a:solidFill>
            <a:srgbClr val="22354A"/>
          </a:solidFill>
          <a:ln w="10160">
            <a:solidFill>
              <a:srgbClr val="22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57800" y="5605272"/>
            <a:ext cx="606247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Microsoft YaHei"/>
              </a:rPr>
              <a:t>统一入口承接告警、巡检、对话与工作项，并保留同一责任链。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74152" y="6007608"/>
            <a:ext cx="34015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50" b="0">
                <a:solidFill>
                  <a:srgbClr val="8C98A8"/>
                </a:solidFill>
                <a:latin typeface="Microsoft YaHei"/>
              </a:rPr>
              <a:t>测试页面截图｜图片对象可替换为 APEX 正式页面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74904"/>
            <a:ext cx="64008" cy="301752"/>
          </a:xfrm>
          <a:prstGeom prst="rect">
            <a:avLst/>
          </a:prstGeom>
          <a:solidFill>
            <a:srgbClr val="00A99D"/>
          </a:solidFill>
          <a:ln w="10160">
            <a:solidFill>
              <a:srgbClr val="00A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20040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2354A"/>
                </a:solidFill>
                <a:latin typeface="Microsoft YaHei"/>
              </a:rPr>
              <a:t>KBot AIOps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A99D"/>
                </a:solidFill>
                <a:latin typeface="Microsoft YaHei"/>
              </a:rPr>
              <a:t>05 · OBSERVE &amp; ALERT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2354A"/>
                </a:solidFill>
                <a:latin typeface="Microsoft YaHei"/>
              </a:rPr>
              <a:t>先看清，再把真正重要的告警送入处理闭环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572768"/>
            <a:ext cx="10881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20" b="0">
                <a:solidFill>
                  <a:srgbClr val="5D6877"/>
                </a:solidFill>
                <a:latin typeface="Microsoft YaHei"/>
              </a:rPr>
              <a:t>统一目标、指标语义与严重性，让海量信号转化为可分派、可跟踪的事件。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46520"/>
            <a:ext cx="274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A6AFBA"/>
                </a:solidFill>
                <a:latin typeface="Microsoft YaHe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3474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A6AFBA"/>
                </a:solidFill>
                <a:latin typeface="Microsoft YaHei"/>
              </a:rPr>
              <a:t>Copyright © 2026, Oracle and/or its affiliates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93392"/>
            <a:ext cx="969264" cy="274320"/>
          </a:xfrm>
          <a:prstGeom prst="roundRect">
            <a:avLst/>
          </a:prstGeom>
          <a:solidFill>
            <a:srgbClr val="EAF0FB"/>
          </a:solidFill>
          <a:ln w="10160">
            <a:solidFill>
              <a:srgbClr val="EA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02536"/>
            <a:ext cx="96926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3559A4"/>
                </a:solidFill>
                <a:latin typeface="Microsoft YaHei"/>
              </a:rPr>
              <a:t>实时监控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993392"/>
            <a:ext cx="969264" cy="274320"/>
          </a:xfrm>
          <a:prstGeom prst="roundRect">
            <a:avLst/>
          </a:prstGeom>
          <a:solidFill>
            <a:srgbClr val="FCEBEA"/>
          </a:solidFill>
          <a:ln w="10160">
            <a:solidFill>
              <a:srgbClr val="FCE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2002536"/>
            <a:ext cx="96926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D94B45"/>
                </a:solidFill>
                <a:latin typeface="Microsoft YaHei"/>
              </a:rPr>
              <a:t>告警诊断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5" y="2395728"/>
            <a:ext cx="5486400" cy="3081528"/>
          </a:xfrm>
          <a:prstGeom prst="roundRect">
            <a:avLst/>
          </a:prstGeom>
          <a:solidFill>
            <a:srgbClr val="D7DCE4"/>
          </a:solidFill>
          <a:ln w="1016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替换截图_06_实时监控" descr="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22576"/>
            <a:ext cx="5376672" cy="3026664"/>
          </a:xfrm>
          <a:prstGeom prst="rect">
            <a:avLst/>
          </a:prstGeom>
          <a:ln w="10160">
            <a:solidFill>
              <a:srgbClr val="C7CDD6"/>
            </a:solidFill>
          </a:ln>
        </p:spPr>
      </p:pic>
      <p:sp>
        <p:nvSpPr>
          <p:cNvPr id="15" name="Rounded Rectangle 14"/>
          <p:cNvSpPr/>
          <p:nvPr/>
        </p:nvSpPr>
        <p:spPr>
          <a:xfrm>
            <a:off x="6144768" y="2395728"/>
            <a:ext cx="5486400" cy="3081528"/>
          </a:xfrm>
          <a:prstGeom prst="roundRect">
            <a:avLst/>
          </a:prstGeom>
          <a:solidFill>
            <a:srgbClr val="D7DCE4"/>
          </a:solidFill>
          <a:ln w="1016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替换截图_06_告警诊断" descr="situ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322576"/>
            <a:ext cx="5376672" cy="3026664"/>
          </a:xfrm>
          <a:prstGeom prst="rect">
            <a:avLst/>
          </a:prstGeom>
          <a:ln w="10160">
            <a:solidFill>
              <a:srgbClr val="C7CDD6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658368" y="5577840"/>
            <a:ext cx="144475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80" b="1">
                <a:solidFill>
                  <a:srgbClr val="3559A4"/>
                </a:solidFill>
                <a:latin typeface="Microsoft YaHei"/>
              </a:rPr>
              <a:t>统一对象与指标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93976" y="5559552"/>
            <a:ext cx="197510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5D6877"/>
                </a:solidFill>
                <a:latin typeface="Microsoft YaHei"/>
              </a:rPr>
              <a:t>跨数据库平台用同一口径观察健康状态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5577840"/>
            <a:ext cx="144475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80" b="1">
                <a:solidFill>
                  <a:srgbClr val="D94B45"/>
                </a:solidFill>
                <a:latin typeface="Microsoft YaHei"/>
              </a:rPr>
              <a:t>严重性优先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97296" y="5559552"/>
            <a:ext cx="197510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5D6877"/>
                </a:solidFill>
                <a:latin typeface="Microsoft YaHei"/>
              </a:rPr>
              <a:t>关键告警进入待处理队列并绑定责任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5577840"/>
            <a:ext cx="144475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80" b="1">
                <a:solidFill>
                  <a:srgbClr val="00A99D"/>
                </a:solidFill>
                <a:latin typeface="Microsoft YaHei"/>
              </a:rPr>
              <a:t>告警自动入 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0616" y="5559552"/>
            <a:ext cx="197510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5D6877"/>
                </a:solidFill>
                <a:latin typeface="Microsoft YaHei"/>
              </a:rPr>
              <a:t>验签、映射、去重后启动标准诊断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6053328"/>
            <a:ext cx="34747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50" b="0">
                <a:solidFill>
                  <a:srgbClr val="8C98A8"/>
                </a:solidFill>
                <a:latin typeface="Microsoft YaHei"/>
              </a:rPr>
              <a:t>测试页面截图｜图片对象可替换为 APEX 正式页面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74904"/>
            <a:ext cx="64008" cy="301752"/>
          </a:xfrm>
          <a:prstGeom prst="rect">
            <a:avLst/>
          </a:prstGeom>
          <a:solidFill>
            <a:srgbClr val="00A99D"/>
          </a:solidFill>
          <a:ln w="10160">
            <a:solidFill>
              <a:srgbClr val="00A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20040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2354A"/>
                </a:solidFill>
                <a:latin typeface="Microsoft YaHei"/>
              </a:rPr>
              <a:t>KBot AIOps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A99D"/>
                </a:solidFill>
                <a:latin typeface="Microsoft YaHei"/>
              </a:rPr>
              <a:t>06 · DIAGNOSE WITH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2354A"/>
                </a:solidFill>
                <a:latin typeface="Microsoft YaHei"/>
              </a:rPr>
              <a:t>智能诊断不是“猜答案”，而是组织证据与判断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572768"/>
            <a:ext cx="10881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20" b="0">
                <a:solidFill>
                  <a:srgbClr val="5D6877"/>
                </a:solidFill>
                <a:latin typeface="Microsoft YaHei"/>
              </a:rPr>
              <a:t>用结构化诊断路径降低排障门槛，让专家把精力放在关键判断上。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46520"/>
            <a:ext cx="274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A6AFBA"/>
                </a:solidFill>
                <a:latin typeface="Microsoft YaHe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3474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A6AFBA"/>
                </a:solidFill>
                <a:latin typeface="Microsoft YaHei"/>
              </a:rPr>
              <a:t>Copyright © 2026, Oracle and/or its affiliates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066543"/>
            <a:ext cx="347472" cy="347472"/>
          </a:xfrm>
          <a:prstGeom prst="ellipse">
            <a:avLst/>
          </a:prstGeom>
          <a:solidFill>
            <a:srgbClr val="00A99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093975"/>
            <a:ext cx="34747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057400"/>
            <a:ext cx="1298448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2354A"/>
                </a:solidFill>
                <a:latin typeface="Microsoft YaHei"/>
              </a:rPr>
              <a:t>理解现象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057400"/>
            <a:ext cx="245059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80" b="0">
                <a:solidFill>
                  <a:srgbClr val="5D6877"/>
                </a:solidFill>
                <a:latin typeface="Microsoft YaHei"/>
              </a:rPr>
              <a:t>目标、时间窗口与影响范围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2104" y="2432303"/>
            <a:ext cx="0" cy="265176"/>
          </a:xfrm>
          <a:prstGeom prst="line">
            <a:avLst/>
          </a:prstGeom>
          <a:ln w="1397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58368" y="2734056"/>
            <a:ext cx="347472" cy="347472"/>
          </a:xfrm>
          <a:prstGeom prst="ellipse">
            <a:avLst/>
          </a:prstGeom>
          <a:solidFill>
            <a:srgbClr val="3559A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761487"/>
            <a:ext cx="34747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724912"/>
            <a:ext cx="1298448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2354A"/>
                </a:solidFill>
                <a:latin typeface="Microsoft YaHei"/>
              </a:rPr>
              <a:t>制定计划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724912"/>
            <a:ext cx="245059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80" b="0">
                <a:solidFill>
                  <a:srgbClr val="5D6877"/>
                </a:solidFill>
                <a:latin typeface="Microsoft YaHei"/>
              </a:rPr>
              <a:t>选择已登记的只读诊断工具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32104" y="3099815"/>
            <a:ext cx="0" cy="265176"/>
          </a:xfrm>
          <a:prstGeom prst="line">
            <a:avLst/>
          </a:prstGeom>
          <a:ln w="1397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58368" y="3401568"/>
            <a:ext cx="347472" cy="347472"/>
          </a:xfrm>
          <a:prstGeom prst="ellipse">
            <a:avLst/>
          </a:prstGeom>
          <a:solidFill>
            <a:srgbClr val="00A99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428999"/>
            <a:ext cx="34747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392424"/>
            <a:ext cx="1298448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2354A"/>
                </a:solidFill>
                <a:latin typeface="Microsoft YaHei"/>
              </a:rPr>
              <a:t>采证 / 补证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392424"/>
            <a:ext cx="245059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80" b="0">
                <a:solidFill>
                  <a:srgbClr val="5D6877"/>
                </a:solidFill>
                <a:latin typeface="Microsoft YaHei"/>
              </a:rPr>
              <a:t>监控、数据库、上传材料与知识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2104" y="3767328"/>
            <a:ext cx="0" cy="265176"/>
          </a:xfrm>
          <a:prstGeom prst="line">
            <a:avLst/>
          </a:prstGeom>
          <a:ln w="1397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58368" y="4069079"/>
            <a:ext cx="347472" cy="347472"/>
          </a:xfrm>
          <a:prstGeom prst="ellipse">
            <a:avLst/>
          </a:prstGeom>
          <a:solidFill>
            <a:srgbClr val="3559A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096511"/>
            <a:ext cx="34747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059935"/>
            <a:ext cx="1298448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2354A"/>
                </a:solidFill>
                <a:latin typeface="Microsoft YaHei"/>
              </a:rPr>
              <a:t>评估根因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4059935"/>
            <a:ext cx="245059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80" b="0">
                <a:solidFill>
                  <a:srgbClr val="5D6877"/>
                </a:solidFill>
                <a:latin typeface="Microsoft YaHei"/>
              </a:rPr>
              <a:t>支持证据、反证、缺口与可信等级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2104" y="4434840"/>
            <a:ext cx="0" cy="265175"/>
          </a:xfrm>
          <a:prstGeom prst="line">
            <a:avLst/>
          </a:prstGeom>
          <a:ln w="1397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58368" y="4736592"/>
            <a:ext cx="347472" cy="347472"/>
          </a:xfrm>
          <a:prstGeom prst="ellipse">
            <a:avLst/>
          </a:prstGeom>
          <a:solidFill>
            <a:srgbClr val="00A99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4764024"/>
            <a:ext cx="34747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727448"/>
            <a:ext cx="1298448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2354A"/>
                </a:solidFill>
                <a:latin typeface="Microsoft YaHei"/>
              </a:rPr>
              <a:t>形成结果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4727448"/>
            <a:ext cx="245059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80" b="0">
                <a:solidFill>
                  <a:srgbClr val="5D6877"/>
                </a:solidFill>
                <a:latin typeface="Microsoft YaHei"/>
              </a:rPr>
              <a:t>建议、验证方式与可追溯报告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74336" y="2103120"/>
            <a:ext cx="6547104" cy="3675887"/>
          </a:xfrm>
          <a:prstGeom prst="roundRect">
            <a:avLst/>
          </a:prstGeom>
          <a:solidFill>
            <a:srgbClr val="D7DCE4"/>
          </a:solidFill>
          <a:ln w="1016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替换截图_07_智能运维" descr="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029968"/>
            <a:ext cx="6437376" cy="3621024"/>
          </a:xfrm>
          <a:prstGeom prst="rect">
            <a:avLst/>
          </a:prstGeom>
          <a:ln w="10160">
            <a:solidFill>
              <a:srgbClr val="C7CDD6"/>
            </a:solidFill>
          </a:ln>
        </p:spPr>
      </p:pic>
      <p:sp>
        <p:nvSpPr>
          <p:cNvPr id="35" name="Rounded Rectangle 34"/>
          <p:cNvSpPr/>
          <p:nvPr/>
        </p:nvSpPr>
        <p:spPr>
          <a:xfrm>
            <a:off x="603504" y="5733288"/>
            <a:ext cx="10972800" cy="548640"/>
          </a:xfrm>
          <a:prstGeom prst="roundRect">
            <a:avLst/>
          </a:prstGeom>
          <a:solidFill>
            <a:srgbClr val="22354A"/>
          </a:solidFill>
          <a:ln w="10160">
            <a:solidFill>
              <a:srgbClr val="22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" y="5833872"/>
            <a:ext cx="105156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Microsoft YaHei"/>
              </a:rPr>
              <a:t>解决：排障过程长、对 DBA 要求高、跨团队反复问数，以及证据不足时的盲目判断。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74152" y="6291072"/>
            <a:ext cx="34015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50" b="0">
                <a:solidFill>
                  <a:srgbClr val="8C98A8"/>
                </a:solidFill>
                <a:latin typeface="Microsoft YaHei"/>
              </a:rPr>
              <a:t>测试页面截图｜图片对象可替换为 APEX 正式页面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74904"/>
            <a:ext cx="64008" cy="301752"/>
          </a:xfrm>
          <a:prstGeom prst="rect">
            <a:avLst/>
          </a:prstGeom>
          <a:solidFill>
            <a:srgbClr val="00A99D"/>
          </a:solidFill>
          <a:ln w="10160">
            <a:solidFill>
              <a:srgbClr val="00A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20040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2354A"/>
                </a:solidFill>
                <a:latin typeface="Microsoft YaHei"/>
              </a:rPr>
              <a:t>KBot AIOps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A99D"/>
                </a:solidFill>
                <a:latin typeface="Microsoft YaHei"/>
              </a:rPr>
              <a:t>07 · MANAGE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2354A"/>
                </a:solidFill>
                <a:latin typeface="Microsoft YaHei"/>
              </a:rPr>
              <a:t>多平台目标统一纳管，巡检与恢复有标准入口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572768"/>
            <a:ext cx="10881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20" b="0">
                <a:solidFill>
                  <a:srgbClr val="5D6877"/>
                </a:solidFill>
                <a:latin typeface="Microsoft YaHei"/>
              </a:rPr>
              <a:t>把数据库对象、连接、监控绑定、巡检与恢复职责放进同一管理视图。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46520"/>
            <a:ext cx="274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A6AFBA"/>
                </a:solidFill>
                <a:latin typeface="Microsoft YaHe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3474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A6AFBA"/>
                </a:solidFill>
                <a:latin typeface="Microsoft YaHei"/>
              </a:rPr>
              <a:t>Copyright © 2026, Oracle and/or its affiliates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5" y="2185416"/>
            <a:ext cx="7735823" cy="3849624"/>
          </a:xfrm>
          <a:prstGeom prst="roundRect">
            <a:avLst/>
          </a:prstGeom>
          <a:solidFill>
            <a:srgbClr val="D7DCE4"/>
          </a:solidFill>
          <a:ln w="1016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替换截图_08_运维目标" descr="tar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12264"/>
            <a:ext cx="7626096" cy="3794760"/>
          </a:xfrm>
          <a:prstGeom prst="rect">
            <a:avLst/>
          </a:prstGeom>
          <a:ln w="10160">
            <a:solidFill>
              <a:srgbClr val="C7CDD6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567928" y="2112264"/>
            <a:ext cx="2953512" cy="987552"/>
          </a:xfrm>
          <a:prstGeom prst="roundRect">
            <a:avLst/>
          </a:prstGeom>
          <a:solidFill>
            <a:srgbClr val="EAF0FB"/>
          </a:solidFill>
          <a:ln w="10160">
            <a:solidFill>
              <a:srgbClr val="EA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96528" y="2267712"/>
            <a:ext cx="1143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30" b="1">
                <a:solidFill>
                  <a:srgbClr val="3559A4"/>
                </a:solidFill>
                <a:latin typeface="Microsoft YaHei"/>
              </a:rPr>
              <a:t>跨平台资产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85248" y="2203704"/>
            <a:ext cx="1316736" cy="6949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2354A"/>
                </a:solidFill>
                <a:latin typeface="Microsoft YaHei"/>
              </a:rPr>
              <a:t>Oracle
MySQL
PostgreSQL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67928" y="3364992"/>
            <a:ext cx="2953512" cy="987552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E6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96528" y="3520440"/>
            <a:ext cx="1143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30" b="1">
                <a:solidFill>
                  <a:srgbClr val="00A99D"/>
                </a:solidFill>
                <a:latin typeface="Microsoft YaHei"/>
              </a:rPr>
              <a:t>运行连接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85248" y="3456432"/>
            <a:ext cx="1316736" cy="6949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2354A"/>
                </a:solidFill>
                <a:latin typeface="Microsoft YaHei"/>
              </a:rPr>
              <a:t>诊断凭据
监控绑定
连接状态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67928" y="4617720"/>
            <a:ext cx="2953512" cy="987552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96528" y="4773168"/>
            <a:ext cx="1143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30" b="1">
                <a:solidFill>
                  <a:srgbClr val="E9A23B"/>
                </a:solidFill>
                <a:latin typeface="Microsoft YaHei"/>
              </a:rPr>
              <a:t>标准作业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85248" y="4709160"/>
            <a:ext cx="1316736" cy="6949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22354A"/>
                </a:solidFill>
                <a:latin typeface="Microsoft YaHei"/>
              </a:rPr>
              <a:t>日常巡检
恢复演练
责任分派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5961888"/>
            <a:ext cx="2834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22354A"/>
                </a:solidFill>
                <a:latin typeface="Microsoft YaHei"/>
              </a:rPr>
              <a:t>面向大规模部署：先统一对象与责任，再复用相同流程批量管理。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2" y="6044184"/>
            <a:ext cx="341985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50" b="0">
                <a:solidFill>
                  <a:srgbClr val="8C98A8"/>
                </a:solidFill>
                <a:latin typeface="Microsoft YaHei"/>
              </a:rPr>
              <a:t>测试页面截图｜图片对象可替换为 APEX 正式页面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74904"/>
            <a:ext cx="64008" cy="301752"/>
          </a:xfrm>
          <a:prstGeom prst="rect">
            <a:avLst/>
          </a:prstGeom>
          <a:solidFill>
            <a:srgbClr val="00A99D"/>
          </a:solidFill>
          <a:ln w="10160">
            <a:solidFill>
              <a:srgbClr val="00A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20040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2354A"/>
                </a:solidFill>
                <a:latin typeface="Microsoft YaHei"/>
              </a:rPr>
              <a:t>KBot AIOps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A99D"/>
                </a:solidFill>
                <a:latin typeface="Microsoft YaHei"/>
              </a:rPr>
              <a:t>08 · LEARN &amp;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2354A"/>
                </a:solidFill>
                <a:latin typeface="Microsoft YaHei"/>
              </a:rPr>
              <a:t>让经验留下来，让结果交付出去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572768"/>
            <a:ext cx="10881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20" b="0">
                <a:solidFill>
                  <a:srgbClr val="5D6877"/>
                </a:solidFill>
                <a:latin typeface="Microsoft YaHei"/>
              </a:rPr>
              <a:t>运维知识、处理过程和报告版本共同形成可审核、可复用的组织资产。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46520"/>
            <a:ext cx="274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A6AFBA"/>
                </a:solidFill>
                <a:latin typeface="Microsoft YaHe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3474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A6AFBA"/>
                </a:solidFill>
                <a:latin typeface="Microsoft YaHei"/>
              </a:rPr>
              <a:t>Copyright © 2026, Oracle and/or its affiliates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93392"/>
            <a:ext cx="1097280" cy="274320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E6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02536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00A99D"/>
                </a:solidFill>
                <a:latin typeface="Microsoft YaHei"/>
              </a:rPr>
              <a:t>运维知识库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993392"/>
            <a:ext cx="969264" cy="274320"/>
          </a:xfrm>
          <a:prstGeom prst="roundRect">
            <a:avLst/>
          </a:prstGeom>
          <a:solidFill>
            <a:srgbClr val="EAF0FB"/>
          </a:solidFill>
          <a:ln w="10160">
            <a:solidFill>
              <a:srgbClr val="EA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2002536"/>
            <a:ext cx="96926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3559A4"/>
                </a:solidFill>
                <a:latin typeface="Microsoft YaHei"/>
              </a:rPr>
              <a:t>报告中心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5" y="2395728"/>
            <a:ext cx="5486400" cy="3081528"/>
          </a:xfrm>
          <a:prstGeom prst="roundRect">
            <a:avLst/>
          </a:prstGeom>
          <a:solidFill>
            <a:srgbClr val="D7DCE4"/>
          </a:solidFill>
          <a:ln w="1016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替换截图_09_运维知识库" descr="operations-knowl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22576"/>
            <a:ext cx="5376672" cy="3026664"/>
          </a:xfrm>
          <a:prstGeom prst="rect">
            <a:avLst/>
          </a:prstGeom>
          <a:ln w="10160">
            <a:solidFill>
              <a:srgbClr val="C7CDD6"/>
            </a:solidFill>
          </a:ln>
        </p:spPr>
      </p:pic>
      <p:sp>
        <p:nvSpPr>
          <p:cNvPr id="15" name="Rounded Rectangle 14"/>
          <p:cNvSpPr/>
          <p:nvPr/>
        </p:nvSpPr>
        <p:spPr>
          <a:xfrm>
            <a:off x="6144768" y="2395728"/>
            <a:ext cx="5486400" cy="3081528"/>
          </a:xfrm>
          <a:prstGeom prst="roundRect">
            <a:avLst/>
          </a:prstGeom>
          <a:solidFill>
            <a:srgbClr val="D7DCE4"/>
          </a:solidFill>
          <a:ln w="1016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替换截图_09_报告中心" descr="re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322576"/>
            <a:ext cx="5376672" cy="3026664"/>
          </a:xfrm>
          <a:prstGeom prst="rect">
            <a:avLst/>
          </a:prstGeom>
          <a:ln w="10160">
            <a:solidFill>
              <a:srgbClr val="C7CDD6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658368" y="5577840"/>
            <a:ext cx="114300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80" b="1">
                <a:solidFill>
                  <a:srgbClr val="00A99D"/>
                </a:solidFill>
                <a:latin typeface="Microsoft YaHei"/>
              </a:rPr>
              <a:t>过程沉淀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559552"/>
            <a:ext cx="22677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40" b="0">
                <a:solidFill>
                  <a:srgbClr val="5D6877"/>
                </a:solidFill>
                <a:latin typeface="Microsoft YaHei"/>
              </a:rPr>
              <a:t>证据 · 判断 · 审批 · 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5577840"/>
            <a:ext cx="114300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80" b="1">
                <a:solidFill>
                  <a:srgbClr val="E9A23B"/>
                </a:solidFill>
                <a:latin typeface="Microsoft YaHei"/>
              </a:rPr>
              <a:t>知识复用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5559552"/>
            <a:ext cx="22677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40" b="0">
                <a:solidFill>
                  <a:srgbClr val="5D6877"/>
                </a:solidFill>
                <a:latin typeface="Microsoft YaHei"/>
              </a:rPr>
              <a:t>SOP · 手册 · 诊断案例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5577840"/>
            <a:ext cx="114300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80" b="1">
                <a:solidFill>
                  <a:srgbClr val="3559A4"/>
                </a:solidFill>
                <a:latin typeface="Microsoft YaHei"/>
              </a:rPr>
              <a:t>结果交付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5559552"/>
            <a:ext cx="22677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40" b="0">
                <a:solidFill>
                  <a:srgbClr val="5D6877"/>
                </a:solidFill>
                <a:latin typeface="Microsoft YaHei"/>
              </a:rPr>
              <a:t>故障 · 性能 · 巡检 · 对比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6053328"/>
            <a:ext cx="34747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50" b="0">
                <a:solidFill>
                  <a:srgbClr val="8C98A8"/>
                </a:solidFill>
                <a:latin typeface="Microsoft YaHei"/>
              </a:rPr>
              <a:t>测试页面截图｜图片对象可替换为 APEX 正式页面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74904"/>
            <a:ext cx="64008" cy="301752"/>
          </a:xfrm>
          <a:prstGeom prst="rect">
            <a:avLst/>
          </a:prstGeom>
          <a:solidFill>
            <a:srgbClr val="00A99D"/>
          </a:solidFill>
          <a:ln w="10160">
            <a:solidFill>
              <a:srgbClr val="00A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20040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2354A"/>
                </a:solidFill>
                <a:latin typeface="Microsoft YaHei"/>
              </a:rPr>
              <a:t>KBot AIOps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A99D"/>
                </a:solidFill>
                <a:latin typeface="Microsoft YaHei"/>
              </a:rPr>
              <a:t>09 · GOVERNED CLOSED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2354A"/>
                </a:solidFill>
                <a:latin typeface="Microsoft YaHei"/>
              </a:rPr>
              <a:t>让 AI 参与处置，但不让 AI 绕过责任边界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572768"/>
            <a:ext cx="10881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20" b="0">
                <a:solidFill>
                  <a:srgbClr val="5D6877"/>
                </a:solidFill>
                <a:latin typeface="Microsoft YaHei"/>
              </a:rPr>
              <a:t>诊断、建议、审批、执行与验证采用同一条受控链路。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46520"/>
            <a:ext cx="274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A6AFBA"/>
                </a:solidFill>
                <a:latin typeface="Microsoft YaHe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3474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A6AFBA"/>
                </a:solidFill>
                <a:latin typeface="Microsoft YaHei"/>
              </a:rPr>
              <a:t>Copyright © 2026, Oracle and/or its affiliates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39696"/>
            <a:ext cx="2487168" cy="877824"/>
          </a:xfrm>
          <a:prstGeom prst="roundRect">
            <a:avLst/>
          </a:prstGeom>
          <a:solidFill>
            <a:srgbClr val="EAF0FB"/>
          </a:solidFill>
          <a:ln w="10160">
            <a:solidFill>
              <a:srgbClr val="EA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2267712"/>
            <a:ext cx="7498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559A4"/>
                </a:solidFill>
                <a:latin typeface="Microsoft YaHei"/>
              </a:rPr>
              <a:t>发现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2184" y="2249424"/>
            <a:ext cx="1463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80" b="0">
                <a:solidFill>
                  <a:srgbClr val="22354A"/>
                </a:solidFill>
                <a:latin typeface="Microsoft YaHei"/>
              </a:rPr>
              <a:t>对话 / 告警 / 巡检</a:t>
            </a:r>
          </a:p>
        </p:txBody>
      </p:sp>
      <p:sp>
        <p:nvSpPr>
          <p:cNvPr id="12" name="Chevron 11"/>
          <p:cNvSpPr/>
          <p:nvPr/>
        </p:nvSpPr>
        <p:spPr>
          <a:xfrm>
            <a:off x="3182111" y="2404872"/>
            <a:ext cx="228600" cy="347472"/>
          </a:xfrm>
          <a:prstGeom prst="chevron">
            <a:avLst/>
          </a:prstGeom>
          <a:solidFill>
            <a:srgbClr val="8C9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02152" y="2139696"/>
            <a:ext cx="2487168" cy="877824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E6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6744" y="2267712"/>
            <a:ext cx="7498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00A99D"/>
                </a:solidFill>
                <a:latin typeface="Microsoft YaHei"/>
              </a:rPr>
              <a:t>观测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2249424"/>
            <a:ext cx="1463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80" b="0">
                <a:solidFill>
                  <a:srgbClr val="22354A"/>
                </a:solidFill>
                <a:latin typeface="Microsoft YaHei"/>
              </a:rPr>
              <a:t>监控与数据库证据</a:t>
            </a:r>
          </a:p>
        </p:txBody>
      </p:sp>
      <p:sp>
        <p:nvSpPr>
          <p:cNvPr id="16" name="Chevron 15"/>
          <p:cNvSpPr/>
          <p:nvPr/>
        </p:nvSpPr>
        <p:spPr>
          <a:xfrm>
            <a:off x="6044183" y="2404872"/>
            <a:ext cx="228600" cy="347472"/>
          </a:xfrm>
          <a:prstGeom prst="chevron">
            <a:avLst/>
          </a:prstGeom>
          <a:solidFill>
            <a:srgbClr val="8C9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64224" y="2139696"/>
            <a:ext cx="2487168" cy="877824"/>
          </a:xfrm>
          <a:prstGeom prst="roundRect">
            <a:avLst/>
          </a:prstGeom>
          <a:solidFill>
            <a:srgbClr val="EAF0FB"/>
          </a:solidFill>
          <a:ln w="10160">
            <a:solidFill>
              <a:srgbClr val="EA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816" y="2267712"/>
            <a:ext cx="7498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559A4"/>
                </a:solidFill>
                <a:latin typeface="Microsoft YaHei"/>
              </a:rPr>
              <a:t>诊断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2249424"/>
            <a:ext cx="1463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80" b="0">
                <a:solidFill>
                  <a:srgbClr val="22354A"/>
                </a:solidFill>
                <a:latin typeface="Microsoft YaHei"/>
              </a:rPr>
              <a:t>候选根因与反证</a:t>
            </a:r>
          </a:p>
        </p:txBody>
      </p:sp>
      <p:sp>
        <p:nvSpPr>
          <p:cNvPr id="20" name="Chevron 19"/>
          <p:cNvSpPr/>
          <p:nvPr/>
        </p:nvSpPr>
        <p:spPr>
          <a:xfrm>
            <a:off x="8906256" y="2404872"/>
            <a:ext cx="228600" cy="347472"/>
          </a:xfrm>
          <a:prstGeom prst="chevron">
            <a:avLst/>
          </a:prstGeom>
          <a:solidFill>
            <a:srgbClr val="8C9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26296" y="2139696"/>
            <a:ext cx="2487168" cy="877824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90888" y="2267712"/>
            <a:ext cx="7498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E9A23B"/>
                </a:solidFill>
                <a:latin typeface="Microsoft YaHei"/>
              </a:rPr>
              <a:t>评估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2249424"/>
            <a:ext cx="1463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80" b="0">
                <a:solidFill>
                  <a:srgbClr val="22354A"/>
                </a:solidFill>
                <a:latin typeface="Microsoft YaHei"/>
              </a:rPr>
              <a:t>等级与证据缺口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419856"/>
            <a:ext cx="2487168" cy="877824"/>
          </a:xfrm>
          <a:prstGeom prst="roundRect">
            <a:avLst/>
          </a:prstGeom>
          <a:solidFill>
            <a:srgbClr val="EAF0FB"/>
          </a:solidFill>
          <a:ln w="10160">
            <a:solidFill>
              <a:srgbClr val="EA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1" y="3547872"/>
            <a:ext cx="7498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3559A4"/>
                </a:solidFill>
                <a:latin typeface="Microsoft YaHei"/>
              </a:rPr>
              <a:t>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72184" y="3529584"/>
            <a:ext cx="1463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80" b="0">
                <a:solidFill>
                  <a:srgbClr val="22354A"/>
                </a:solidFill>
                <a:latin typeface="Microsoft YaHei"/>
              </a:rPr>
              <a:t>Before / After 与报告</a:t>
            </a:r>
          </a:p>
        </p:txBody>
      </p:sp>
      <p:sp>
        <p:nvSpPr>
          <p:cNvPr id="27" name="Chevron 26"/>
          <p:cNvSpPr/>
          <p:nvPr/>
        </p:nvSpPr>
        <p:spPr>
          <a:xfrm rot="10800000">
            <a:off x="3182111" y="3685032"/>
            <a:ext cx="228600" cy="347472"/>
          </a:xfrm>
          <a:prstGeom prst="chevron">
            <a:avLst/>
          </a:prstGeom>
          <a:solidFill>
            <a:srgbClr val="8C9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502152" y="3419856"/>
            <a:ext cx="2487168" cy="877824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E6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66744" y="3547872"/>
            <a:ext cx="7498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00A99D"/>
                </a:solidFill>
                <a:latin typeface="Microsoft YaHei"/>
              </a:rPr>
              <a:t>执行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4256" y="3529584"/>
            <a:ext cx="1463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80" b="0">
                <a:solidFill>
                  <a:srgbClr val="22354A"/>
                </a:solidFill>
                <a:latin typeface="Microsoft YaHei"/>
              </a:rPr>
              <a:t>一次性授权与复核</a:t>
            </a:r>
          </a:p>
        </p:txBody>
      </p:sp>
      <p:sp>
        <p:nvSpPr>
          <p:cNvPr id="31" name="Chevron 30"/>
          <p:cNvSpPr/>
          <p:nvPr/>
        </p:nvSpPr>
        <p:spPr>
          <a:xfrm rot="10800000">
            <a:off x="6044183" y="3685032"/>
            <a:ext cx="228600" cy="347472"/>
          </a:xfrm>
          <a:prstGeom prst="chevron">
            <a:avLst/>
          </a:prstGeom>
          <a:solidFill>
            <a:srgbClr val="8C9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64224" y="3419856"/>
            <a:ext cx="2487168" cy="877824"/>
          </a:xfrm>
          <a:prstGeom prst="roundRect">
            <a:avLst/>
          </a:prstGeom>
          <a:solidFill>
            <a:srgbClr val="FCEBEA"/>
          </a:solidFill>
          <a:ln w="10160">
            <a:solidFill>
              <a:srgbClr val="FCE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8816" y="3547872"/>
            <a:ext cx="7498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D94B45"/>
                </a:solidFill>
                <a:latin typeface="Microsoft YaHei"/>
              </a:rPr>
              <a:t>审批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96328" y="3529584"/>
            <a:ext cx="1463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80" b="0">
                <a:solidFill>
                  <a:srgbClr val="22354A"/>
                </a:solidFill>
                <a:latin typeface="Microsoft YaHei"/>
              </a:rPr>
              <a:t>逐条人工批准</a:t>
            </a:r>
          </a:p>
        </p:txBody>
      </p:sp>
      <p:sp>
        <p:nvSpPr>
          <p:cNvPr id="35" name="Chevron 34"/>
          <p:cNvSpPr/>
          <p:nvPr/>
        </p:nvSpPr>
        <p:spPr>
          <a:xfrm rot="10800000">
            <a:off x="8906256" y="3685032"/>
            <a:ext cx="228600" cy="347472"/>
          </a:xfrm>
          <a:prstGeom prst="chevron">
            <a:avLst/>
          </a:prstGeom>
          <a:solidFill>
            <a:srgbClr val="8C9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226296" y="3419856"/>
            <a:ext cx="2487168" cy="877824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90888" y="3547872"/>
            <a:ext cx="74980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E9A23B"/>
                </a:solidFill>
                <a:latin typeface="Microsoft YaHei"/>
              </a:rPr>
              <a:t>建议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3529584"/>
            <a:ext cx="1463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80" b="0">
                <a:solidFill>
                  <a:srgbClr val="22354A"/>
                </a:solidFill>
                <a:latin typeface="Microsoft YaHei"/>
              </a:rPr>
              <a:t>动作与验证方案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1356848" y="2999232"/>
            <a:ext cx="0" cy="384048"/>
          </a:xfrm>
          <a:prstGeom prst="line">
            <a:avLst/>
          </a:prstGeom>
          <a:ln w="15240">
            <a:solidFill>
              <a:srgbClr val="8C9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2104" y="2999232"/>
            <a:ext cx="0" cy="384048"/>
          </a:xfrm>
          <a:prstGeom prst="line">
            <a:avLst/>
          </a:prstGeom>
          <a:ln w="15240">
            <a:solidFill>
              <a:srgbClr val="8C9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4800600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3559A4"/>
                </a:solidFill>
                <a:latin typeface="Microsoft YaHei"/>
              </a:rPr>
              <a:t>诊断默认只读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5166360"/>
            <a:ext cx="3264408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D6877"/>
                </a:solidFill>
                <a:latin typeface="Microsoft YaHei"/>
              </a:rPr>
              <a:t>模型选择已登记工具，不把自由生成 SQL 直接交给数据库。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70831" y="4800600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D94B45"/>
                </a:solidFill>
                <a:latin typeface="Microsoft YaHei"/>
              </a:rPr>
              <a:t>执行逐条把关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70831" y="5166360"/>
            <a:ext cx="3264408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D6877"/>
                </a:solidFill>
                <a:latin typeface="Microsoft YaHei"/>
              </a:rPr>
              <a:t>授权绑定目标、参数与有效期，内容变化后原审批失效。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83296" y="4800600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00A99D"/>
                </a:solidFill>
                <a:latin typeface="Microsoft YaHei"/>
              </a:rPr>
              <a:t>成功必须验证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83296" y="5166360"/>
            <a:ext cx="3264408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D6877"/>
                </a:solidFill>
                <a:latin typeface="Microsoft YaHei"/>
              </a:rPr>
              <a:t>命令执行成功不等于问题解决，仍需同口径前后对比。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3504" y="5760720"/>
            <a:ext cx="10972800" cy="548640"/>
          </a:xfrm>
          <a:prstGeom prst="roundRect">
            <a:avLst/>
          </a:prstGeom>
          <a:solidFill>
            <a:srgbClr val="22354A"/>
          </a:solidFill>
          <a:ln w="10160">
            <a:solidFill>
              <a:srgbClr val="22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" y="5861304"/>
            <a:ext cx="105156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Microsoft YaHei"/>
              </a:rPr>
              <a:t>自动化的目标不是“无人负责”，而是让标准动作更快，让高风险动作更可控。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74904"/>
            <a:ext cx="64008" cy="301752"/>
          </a:xfrm>
          <a:prstGeom prst="rect">
            <a:avLst/>
          </a:prstGeom>
          <a:solidFill>
            <a:srgbClr val="00A99D"/>
          </a:solidFill>
          <a:ln w="10160">
            <a:solidFill>
              <a:srgbClr val="00A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20040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2354A"/>
                </a:solidFill>
                <a:latin typeface="Microsoft YaHei"/>
              </a:rPr>
              <a:t>KBot AIOps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A99D"/>
                </a:solidFill>
                <a:latin typeface="Microsoft YaHei"/>
              </a:rPr>
              <a:t>10 · DEPLOYMENT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2354A"/>
                </a:solidFill>
                <a:latin typeface="Microsoft YaHei"/>
              </a:rPr>
              <a:t>一台服务器即可起步，规模化后按职责平滑拆分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572768"/>
            <a:ext cx="10881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20" b="0">
                <a:solidFill>
                  <a:srgbClr val="5D6877"/>
                </a:solidFill>
                <a:latin typeface="Microsoft YaHei"/>
              </a:rPr>
              <a:t>以下为 PoC 与中小规模生产推荐配置；不是代码声明的最低硬件要求。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46520"/>
            <a:ext cx="274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A6AFBA"/>
                </a:solidFill>
                <a:latin typeface="Microsoft YaHe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3474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A6AFBA"/>
                </a:solidFill>
                <a:latin typeface="Microsoft YaHei"/>
              </a:rPr>
              <a:t>Copyright © 2026, Oracle and/or its affiliates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2240280"/>
            <a:ext cx="1234440" cy="2615184"/>
          </a:xfrm>
          <a:prstGeom prst="roundRect">
            <a:avLst/>
          </a:prstGeom>
          <a:solidFill>
            <a:srgbClr val="F5F6F8"/>
          </a:solidFill>
          <a:ln w="10160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96312"/>
            <a:ext cx="923544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50" b="1">
                <a:solidFill>
                  <a:srgbClr val="22354A"/>
                </a:solidFill>
                <a:latin typeface="Microsoft YaHei"/>
              </a:rPr>
              <a:t>客户用户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90672"/>
            <a:ext cx="923544" cy="10241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5D6877"/>
                </a:solidFill>
                <a:latin typeface="Microsoft YaHei"/>
              </a:rPr>
              <a:t>浏览器
APEX 页面
REST API</a:t>
            </a:r>
          </a:p>
        </p:txBody>
      </p:sp>
      <p:sp>
        <p:nvSpPr>
          <p:cNvPr id="12" name="Chevron 11"/>
          <p:cNvSpPr/>
          <p:nvPr/>
        </p:nvSpPr>
        <p:spPr>
          <a:xfrm>
            <a:off x="1691640" y="3364992"/>
            <a:ext cx="274320" cy="347472"/>
          </a:xfrm>
          <a:prstGeom prst="chevron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965960" y="1993392"/>
            <a:ext cx="6510528" cy="3246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559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94560" y="2139696"/>
            <a:ext cx="1975104" cy="274320"/>
          </a:xfrm>
          <a:prstGeom prst="roundRect">
            <a:avLst/>
          </a:prstGeom>
          <a:solidFill>
            <a:srgbClr val="22354A"/>
          </a:solidFill>
          <a:ln w="10160">
            <a:solidFill>
              <a:srgbClr val="22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2148839"/>
            <a:ext cx="197510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一台 Linux x86_64 服务器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31136" y="2679192"/>
            <a:ext cx="2743200" cy="786384"/>
          </a:xfrm>
          <a:prstGeom prst="roundRect">
            <a:avLst/>
          </a:prstGeom>
          <a:solidFill>
            <a:srgbClr val="EAF0FB"/>
          </a:solidFill>
          <a:ln w="10160">
            <a:solidFill>
              <a:srgbClr val="EA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95728" y="2788920"/>
            <a:ext cx="82296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3559A4"/>
                </a:solidFill>
                <a:latin typeface="Microsoft YaHei"/>
              </a:rPr>
              <a:t>入口层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45536" y="2761488"/>
            <a:ext cx="1664208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80" b="0">
                <a:solidFill>
                  <a:srgbClr val="22354A"/>
                </a:solidFill>
                <a:latin typeface="Microsoft YaHei"/>
              </a:rPr>
              <a:t>Nginx / TLS · ORDS + Oracle APEX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8072" y="2679192"/>
            <a:ext cx="3044952" cy="1243584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E6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12664" y="2788920"/>
            <a:ext cx="82296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0A99D"/>
                </a:solidFill>
                <a:latin typeface="Microsoft YaHei"/>
              </a:rPr>
              <a:t>应用层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62472" y="2761488"/>
            <a:ext cx="1965960" cy="10972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80" b="0">
                <a:solidFill>
                  <a:srgbClr val="22354A"/>
                </a:solidFill>
                <a:latin typeface="Microsoft YaHei"/>
              </a:rPr>
              <a:t>Python 3.10+ · FastAPI
Main API · AIOps Agent · Worker · Scheduler · DB Executor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31136" y="3657600"/>
            <a:ext cx="2743200" cy="1234440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95728" y="3767328"/>
            <a:ext cx="82296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E9A23B"/>
                </a:solidFill>
                <a:latin typeface="Microsoft YaHei"/>
              </a:rPr>
              <a:t>数据层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45536" y="3739896"/>
            <a:ext cx="1664208" cy="10881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80" b="0">
                <a:solidFill>
                  <a:srgbClr val="22354A"/>
                </a:solidFill>
                <a:latin typeface="Microsoft YaHei"/>
              </a:rPr>
              <a:t>Oracle Database 26ai
KBot Schema · 任务事实 · 证据 · 审批 · 审计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48072" y="4114800"/>
            <a:ext cx="3044952" cy="777240"/>
          </a:xfrm>
          <a:prstGeom prst="roundRect">
            <a:avLst/>
          </a:prstGeom>
          <a:solidFill>
            <a:srgbClr val="F5F6F8"/>
          </a:solidFill>
          <a:ln w="10160"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12664" y="4224528"/>
            <a:ext cx="82296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5D6877"/>
                </a:solidFill>
                <a:latin typeface="Microsoft YaHei"/>
              </a:rPr>
              <a:t>可选观测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62472" y="4197096"/>
            <a:ext cx="1965960" cy="6309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80" b="0">
                <a:solidFill>
                  <a:srgbClr val="22354A"/>
                </a:solidFill>
                <a:latin typeface="Microsoft YaHei"/>
              </a:rPr>
              <a:t>Prometheus · Alertmanager · Loki · Alloy / Exporter</a:t>
            </a:r>
          </a:p>
        </p:txBody>
      </p:sp>
      <p:sp>
        <p:nvSpPr>
          <p:cNvPr id="28" name="Chevron 27"/>
          <p:cNvSpPr/>
          <p:nvPr/>
        </p:nvSpPr>
        <p:spPr>
          <a:xfrm>
            <a:off x="8522208" y="3364992"/>
            <a:ext cx="274320" cy="347472"/>
          </a:xfrm>
          <a:prstGeom prst="chevron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833104" y="2121408"/>
            <a:ext cx="2889504" cy="832104"/>
          </a:xfrm>
          <a:prstGeom prst="roundRect">
            <a:avLst/>
          </a:prstGeom>
          <a:solidFill>
            <a:srgbClr val="EAF0FB"/>
          </a:solidFill>
          <a:ln w="10160">
            <a:solidFill>
              <a:srgbClr val="EA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25128" y="2240279"/>
            <a:ext cx="80467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80" b="1">
                <a:solidFill>
                  <a:srgbClr val="3559A4"/>
                </a:solidFill>
                <a:latin typeface="Microsoft YaHei"/>
              </a:rPr>
              <a:t>运维目标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57232" y="2194560"/>
            <a:ext cx="164592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60" b="0">
                <a:solidFill>
                  <a:srgbClr val="22354A"/>
                </a:solidFill>
                <a:latin typeface="Microsoft YaHei"/>
              </a:rPr>
              <a:t>Oracle 19c / 26ai
MySQL 8.4 · PostgreSQL 16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33104" y="3200400"/>
            <a:ext cx="2889504" cy="832104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E6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25128" y="3319272"/>
            <a:ext cx="80467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80" b="1">
                <a:solidFill>
                  <a:srgbClr val="00A99D"/>
                </a:solidFill>
                <a:latin typeface="Microsoft YaHei"/>
              </a:rPr>
              <a:t>外部监控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7232" y="3273552"/>
            <a:ext cx="164592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60" b="0">
                <a:solidFill>
                  <a:srgbClr val="22354A"/>
                </a:solidFill>
                <a:latin typeface="Microsoft YaHei"/>
              </a:rPr>
              <a:t>Prometheus · Zabbix · OEM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33104" y="4279392"/>
            <a:ext cx="2889504" cy="832104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25128" y="4398264"/>
            <a:ext cx="80467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80" b="1">
                <a:solidFill>
                  <a:srgbClr val="E9A23B"/>
                </a:solidFill>
                <a:latin typeface="Microsoft YaHei"/>
              </a:rPr>
              <a:t>模型服务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57232" y="4352544"/>
            <a:ext cx="164592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60" b="0">
                <a:solidFill>
                  <a:srgbClr val="22354A"/>
                </a:solidFill>
                <a:latin typeface="Microsoft YaHei"/>
              </a:rPr>
              <a:t>近端 DeepSeek · 云模型 API
本地 Embedding / OCR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504" y="5559552"/>
            <a:ext cx="10972800" cy="603504"/>
          </a:xfrm>
          <a:prstGeom prst="roundRect">
            <a:avLst/>
          </a:prstGeom>
          <a:solidFill>
            <a:srgbClr val="22354A"/>
          </a:solidFill>
          <a:ln w="10160">
            <a:solidFill>
              <a:srgbClr val="22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" y="5641848"/>
            <a:ext cx="113385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80" b="1">
                <a:solidFill>
                  <a:srgbClr val="FFFFFF"/>
                </a:solidFill>
                <a:latin typeface="Microsoft YaHei"/>
              </a:rPr>
              <a:t>16 vCPU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5650992"/>
            <a:ext cx="131673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19" b="0">
                <a:solidFill>
                  <a:srgbClr val="C5CED8"/>
                </a:solidFill>
                <a:latin typeface="Microsoft YaHei"/>
              </a:rPr>
              <a:t>计算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5641848"/>
            <a:ext cx="113385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80" b="1">
                <a:solidFill>
                  <a:srgbClr val="FFFFFF"/>
                </a:solidFill>
                <a:latin typeface="Microsoft YaHei"/>
              </a:rPr>
              <a:t>64 GB RAM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90872" y="5650992"/>
            <a:ext cx="131673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19" b="0">
                <a:solidFill>
                  <a:srgbClr val="C5CED8"/>
                </a:solidFill>
                <a:latin typeface="Microsoft YaHei"/>
              </a:rPr>
              <a:t>内存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2" y="5641848"/>
            <a:ext cx="113385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80" b="1">
                <a:solidFill>
                  <a:srgbClr val="FFFFFF"/>
                </a:solidFill>
                <a:latin typeface="Microsoft YaHei"/>
              </a:rPr>
              <a:t>1 TB NVMe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70064" y="5650992"/>
            <a:ext cx="131673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19" b="0">
                <a:solidFill>
                  <a:srgbClr val="C5CED8"/>
                </a:solidFill>
                <a:latin typeface="Microsoft YaHei"/>
              </a:rPr>
              <a:t>存储起步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78824" y="5641848"/>
            <a:ext cx="113385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80" b="1">
                <a:solidFill>
                  <a:srgbClr val="FFFFFF"/>
                </a:solidFill>
                <a:latin typeface="Microsoft YaHei"/>
              </a:rPr>
              <a:t>GPU 可选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49256" y="5650992"/>
            <a:ext cx="131673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19" b="0">
                <a:solidFill>
                  <a:srgbClr val="C5CED8"/>
                </a:solidFill>
                <a:latin typeface="Microsoft YaHei"/>
              </a:rPr>
              <a:t>本地大模型建议独立节点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30552" y="5266944"/>
            <a:ext cx="6446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40" b="0">
                <a:solidFill>
                  <a:srgbClr val="8C98A8"/>
                </a:solidFill>
                <a:latin typeface="Microsoft YaHei"/>
              </a:rPr>
              <a:t>高可用、大规模目标或本地大模型场景，可拆分数据库、应用、观测与推理节点。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74904"/>
            <a:ext cx="64008" cy="301752"/>
          </a:xfrm>
          <a:prstGeom prst="rect">
            <a:avLst/>
          </a:prstGeom>
          <a:solidFill>
            <a:srgbClr val="00A99D"/>
          </a:solidFill>
          <a:ln w="10160">
            <a:solidFill>
              <a:srgbClr val="00A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20040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2354A"/>
                </a:solidFill>
                <a:latin typeface="Microsoft YaHei"/>
              </a:rPr>
              <a:t>KBot AIOps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A99D"/>
                </a:solidFill>
                <a:latin typeface="Microsoft YaHei"/>
              </a:rPr>
              <a:t>11 · MODEL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2354A"/>
                </a:solidFill>
                <a:latin typeface="Microsoft YaHei"/>
              </a:rPr>
              <a:t>开放模型、近端推理与闭源 API 可以按客户策略组合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572768"/>
            <a:ext cx="10881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20" b="0">
                <a:solidFill>
                  <a:srgbClr val="5D6877"/>
                </a:solidFill>
                <a:latin typeface="Microsoft YaHei"/>
              </a:rPr>
              <a:t>模型目录默认不预置业务模型；实际启用项由客户部署后的 Model Catalog 决定。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46520"/>
            <a:ext cx="274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A6AFBA"/>
                </a:solidFill>
                <a:latin typeface="Microsoft YaHe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3474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A6AFBA"/>
                </a:solidFill>
                <a:latin typeface="Microsoft YaHei"/>
              </a:rPr>
              <a:t>Copyright © 2026, Oracle and/or its affiliates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2084831"/>
            <a:ext cx="1243584" cy="411480"/>
          </a:xfrm>
          <a:prstGeom prst="rect">
            <a:avLst/>
          </a:prstGeom>
          <a:solidFill>
            <a:srgbClr val="22354A"/>
          </a:solidFill>
          <a:ln w="10160">
            <a:solidFill>
              <a:srgbClr val="22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167128"/>
            <a:ext cx="106070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能力类别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47088" y="2084831"/>
            <a:ext cx="5056632" cy="411480"/>
          </a:xfrm>
          <a:prstGeom prst="rect">
            <a:avLst/>
          </a:prstGeom>
          <a:solidFill>
            <a:srgbClr val="22354A"/>
          </a:solidFill>
          <a:ln w="10160">
            <a:solidFill>
              <a:srgbClr val="22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38528" y="2167128"/>
            <a:ext cx="48737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支持模型 / Provider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20" y="2084831"/>
            <a:ext cx="1828800" cy="411480"/>
          </a:xfrm>
          <a:prstGeom prst="rect">
            <a:avLst/>
          </a:prstGeom>
          <a:solidFill>
            <a:srgbClr val="22354A"/>
          </a:solidFill>
          <a:ln w="10160">
            <a:solidFill>
              <a:srgbClr val="22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59" y="2167128"/>
            <a:ext cx="1645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接入方式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20" y="2084831"/>
            <a:ext cx="2843784" cy="411480"/>
          </a:xfrm>
          <a:prstGeom prst="rect">
            <a:avLst/>
          </a:prstGeom>
          <a:solidFill>
            <a:srgbClr val="22354A"/>
          </a:solidFill>
          <a:ln w="10160">
            <a:solidFill>
              <a:srgbClr val="22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2167128"/>
            <a:ext cx="2660903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开放性说明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" y="2496312"/>
            <a:ext cx="1243584" cy="630936"/>
          </a:xfrm>
          <a:prstGeom prst="rect">
            <a:avLst/>
          </a:prstGeom>
          <a:solidFill>
            <a:srgbClr val="FFFFFF"/>
          </a:solidFill>
          <a:ln w="698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47088" y="2496312"/>
            <a:ext cx="5056632" cy="630936"/>
          </a:xfrm>
          <a:prstGeom prst="rect">
            <a:avLst/>
          </a:prstGeom>
          <a:solidFill>
            <a:srgbClr val="FFFFFF"/>
          </a:solidFill>
          <a:ln w="698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03720" y="2496312"/>
            <a:ext cx="1828800" cy="630936"/>
          </a:xfrm>
          <a:prstGeom prst="rect">
            <a:avLst/>
          </a:prstGeom>
          <a:solidFill>
            <a:srgbClr val="FFFFFF"/>
          </a:solidFill>
          <a:ln w="698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32520" y="2496312"/>
            <a:ext cx="2843784" cy="630936"/>
          </a:xfrm>
          <a:prstGeom prst="rect">
            <a:avLst/>
          </a:prstGeom>
          <a:solidFill>
            <a:srgbClr val="FFFFFF"/>
          </a:solidFill>
          <a:ln w="698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2670048"/>
            <a:ext cx="950976" cy="274320"/>
          </a:xfrm>
          <a:prstGeom prst="roundRect">
            <a:avLst/>
          </a:prstGeom>
          <a:solidFill>
            <a:srgbClr val="EAF0FB"/>
          </a:solidFill>
          <a:ln w="10160">
            <a:solidFill>
              <a:srgbClr val="EA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2715768"/>
            <a:ext cx="95097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3559A4"/>
                </a:solidFill>
                <a:latin typeface="Microsoft YaHei"/>
              </a:rPr>
              <a:t>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02536" y="2578608"/>
            <a:ext cx="4736592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19" b="1">
                <a:solidFill>
                  <a:srgbClr val="22354A"/>
                </a:solidFill>
                <a:latin typeface="Microsoft YaHei"/>
              </a:rPr>
              <a:t>DeepSeek 近端 / API · Qwen API
ChatGPT / OpenAI · OCI Generative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0024" y="2578608"/>
            <a:ext cx="1536192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69" b="0">
                <a:solidFill>
                  <a:srgbClr val="5D6877"/>
                </a:solidFill>
                <a:latin typeface="Microsoft YaHei"/>
              </a:rPr>
              <a:t>近端 API
云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06256" y="2578608"/>
            <a:ext cx="2487168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69" b="0">
                <a:solidFill>
                  <a:srgbClr val="5D6877"/>
                </a:solidFill>
                <a:latin typeface="Microsoft YaHei"/>
              </a:rPr>
              <a:t>开放权重可近端
+ 闭源 API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" y="3127248"/>
            <a:ext cx="1243584" cy="630936"/>
          </a:xfrm>
          <a:prstGeom prst="rect">
            <a:avLst/>
          </a:prstGeom>
          <a:solidFill>
            <a:srgbClr val="F5F6F8"/>
          </a:solidFill>
          <a:ln w="698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47088" y="3127248"/>
            <a:ext cx="5056632" cy="630936"/>
          </a:xfrm>
          <a:prstGeom prst="rect">
            <a:avLst/>
          </a:prstGeom>
          <a:solidFill>
            <a:srgbClr val="F5F6F8"/>
          </a:solidFill>
          <a:ln w="698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03720" y="3127248"/>
            <a:ext cx="1828800" cy="630936"/>
          </a:xfrm>
          <a:prstGeom prst="rect">
            <a:avLst/>
          </a:prstGeom>
          <a:solidFill>
            <a:srgbClr val="F5F6F8"/>
          </a:solidFill>
          <a:ln w="698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32520" y="3127248"/>
            <a:ext cx="2843784" cy="630936"/>
          </a:xfrm>
          <a:prstGeom prst="rect">
            <a:avLst/>
          </a:prstGeom>
          <a:solidFill>
            <a:srgbClr val="F5F6F8"/>
          </a:solidFill>
          <a:ln w="698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9808" y="3300984"/>
            <a:ext cx="950976" cy="274320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E6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3346704"/>
            <a:ext cx="95097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00A99D"/>
                </a:solidFill>
                <a:latin typeface="Microsoft YaHei"/>
              </a:rPr>
              <a:t>文本向量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02536" y="3209544"/>
            <a:ext cx="4736592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19" b="1">
                <a:solidFill>
                  <a:srgbClr val="22354A"/>
                </a:solidFill>
                <a:latin typeface="Microsoft YaHei"/>
              </a:rPr>
              <a:t>BGE Local · Qwen Embedding Local
Qwen / OpenAI / OCI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0024" y="3209544"/>
            <a:ext cx="1536192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69" b="0">
                <a:solidFill>
                  <a:srgbClr val="5D6877"/>
                </a:solidFill>
                <a:latin typeface="Microsoft YaHei"/>
              </a:rPr>
              <a:t>本地加载
云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3209544"/>
            <a:ext cx="2487168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69" b="0">
                <a:solidFill>
                  <a:srgbClr val="5D6877"/>
                </a:solidFill>
                <a:latin typeface="Microsoft YaHei"/>
              </a:rPr>
              <a:t>开源或开放权重
+ 闭源 API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" y="3758183"/>
            <a:ext cx="1243584" cy="630936"/>
          </a:xfrm>
          <a:prstGeom prst="rect">
            <a:avLst/>
          </a:prstGeom>
          <a:solidFill>
            <a:srgbClr val="FFFFFF"/>
          </a:solidFill>
          <a:ln w="698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847088" y="3758183"/>
            <a:ext cx="5056632" cy="630936"/>
          </a:xfrm>
          <a:prstGeom prst="rect">
            <a:avLst/>
          </a:prstGeom>
          <a:solidFill>
            <a:srgbClr val="FFFFFF"/>
          </a:solidFill>
          <a:ln w="698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03720" y="3758183"/>
            <a:ext cx="1828800" cy="630936"/>
          </a:xfrm>
          <a:prstGeom prst="rect">
            <a:avLst/>
          </a:prstGeom>
          <a:solidFill>
            <a:srgbClr val="FFFFFF"/>
          </a:solidFill>
          <a:ln w="698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32520" y="3758183"/>
            <a:ext cx="2843784" cy="630936"/>
          </a:xfrm>
          <a:prstGeom prst="rect">
            <a:avLst/>
          </a:prstGeom>
          <a:solidFill>
            <a:srgbClr val="FFFFFF"/>
          </a:solidFill>
          <a:ln w="698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49808" y="3931920"/>
            <a:ext cx="950976" cy="274320"/>
          </a:xfrm>
          <a:prstGeom prst="roundRect">
            <a:avLst/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3977639"/>
            <a:ext cx="95097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E9A23B"/>
                </a:solidFill>
                <a:latin typeface="Microsoft YaHei"/>
              </a:rPr>
              <a:t>视觉向量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02536" y="3840479"/>
            <a:ext cx="4736592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19" b="1">
                <a:solidFill>
                  <a:srgbClr val="22354A"/>
                </a:solidFill>
                <a:latin typeface="Microsoft YaHei"/>
              </a:rPr>
              <a:t>ColQwen2 Local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50024" y="3840479"/>
            <a:ext cx="1536192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69" b="0">
                <a:solidFill>
                  <a:srgbClr val="5D6877"/>
                </a:solidFill>
                <a:latin typeface="Microsoft YaHei"/>
              </a:rPr>
              <a:t>本地加载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40479"/>
            <a:ext cx="2487168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69" b="0">
                <a:solidFill>
                  <a:srgbClr val="5D6877"/>
                </a:solidFill>
                <a:latin typeface="Microsoft YaHei"/>
              </a:rPr>
              <a:t>开放权重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" y="4389119"/>
            <a:ext cx="1243584" cy="630936"/>
          </a:xfrm>
          <a:prstGeom prst="rect">
            <a:avLst/>
          </a:prstGeom>
          <a:solidFill>
            <a:srgbClr val="F5F6F8"/>
          </a:solidFill>
          <a:ln w="698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847088" y="4389119"/>
            <a:ext cx="5056632" cy="630936"/>
          </a:xfrm>
          <a:prstGeom prst="rect">
            <a:avLst/>
          </a:prstGeom>
          <a:solidFill>
            <a:srgbClr val="F5F6F8"/>
          </a:solidFill>
          <a:ln w="698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03720" y="4389119"/>
            <a:ext cx="1828800" cy="630936"/>
          </a:xfrm>
          <a:prstGeom prst="rect">
            <a:avLst/>
          </a:prstGeom>
          <a:solidFill>
            <a:srgbClr val="F5F6F8"/>
          </a:solidFill>
          <a:ln w="698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732520" y="4389119"/>
            <a:ext cx="2843784" cy="630936"/>
          </a:xfrm>
          <a:prstGeom prst="rect">
            <a:avLst/>
          </a:prstGeom>
          <a:solidFill>
            <a:srgbClr val="F5F6F8"/>
          </a:solidFill>
          <a:ln w="698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49808" y="4562855"/>
            <a:ext cx="950976" cy="274320"/>
          </a:xfrm>
          <a:prstGeom prst="roundRect">
            <a:avLst/>
          </a:prstGeom>
          <a:solidFill>
            <a:srgbClr val="EAF0FB"/>
          </a:solidFill>
          <a:ln w="10160">
            <a:solidFill>
              <a:srgbClr val="EA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" y="4608575"/>
            <a:ext cx="95097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3559A4"/>
                </a:solidFill>
                <a:latin typeface="Microsoft YaHei"/>
              </a:rPr>
              <a:t>VLM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02536" y="4471415"/>
            <a:ext cx="4736592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19" b="1">
                <a:solidFill>
                  <a:srgbClr val="22354A"/>
                </a:solidFill>
                <a:latin typeface="Microsoft YaHei"/>
              </a:rPr>
              <a:t>Qwen-VL API · GPT-4V 兼容接口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50024" y="4471415"/>
            <a:ext cx="1536192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69" b="0">
                <a:solidFill>
                  <a:srgbClr val="5D6877"/>
                </a:solidFill>
                <a:latin typeface="Microsoft YaHei"/>
              </a:rPr>
              <a:t>云 API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06256" y="4471415"/>
            <a:ext cx="2487168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69" b="0">
                <a:solidFill>
                  <a:srgbClr val="5D6877"/>
                </a:solidFill>
                <a:latin typeface="Microsoft YaHei"/>
              </a:rPr>
              <a:t>Qwen 服务
GPT 为闭源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" y="5020055"/>
            <a:ext cx="1243584" cy="630936"/>
          </a:xfrm>
          <a:prstGeom prst="rect">
            <a:avLst/>
          </a:prstGeom>
          <a:solidFill>
            <a:srgbClr val="FFFFFF"/>
          </a:solidFill>
          <a:ln w="698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847088" y="5020055"/>
            <a:ext cx="5056632" cy="630936"/>
          </a:xfrm>
          <a:prstGeom prst="rect">
            <a:avLst/>
          </a:prstGeom>
          <a:solidFill>
            <a:srgbClr val="FFFFFF"/>
          </a:solidFill>
          <a:ln w="698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903720" y="5020055"/>
            <a:ext cx="1828800" cy="630936"/>
          </a:xfrm>
          <a:prstGeom prst="rect">
            <a:avLst/>
          </a:prstGeom>
          <a:solidFill>
            <a:srgbClr val="FFFFFF"/>
          </a:solidFill>
          <a:ln w="698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32520" y="5020055"/>
            <a:ext cx="2843784" cy="630936"/>
          </a:xfrm>
          <a:prstGeom prst="rect">
            <a:avLst/>
          </a:prstGeom>
          <a:solidFill>
            <a:srgbClr val="FFFFFF"/>
          </a:solidFill>
          <a:ln w="6985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49808" y="5193791"/>
            <a:ext cx="950976" cy="274320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E6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808" y="5239511"/>
            <a:ext cx="95097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00A99D"/>
                </a:solidFill>
                <a:latin typeface="Microsoft YaHei"/>
              </a:rPr>
              <a:t>OCR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02536" y="5102351"/>
            <a:ext cx="4736592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19" b="1">
                <a:solidFill>
                  <a:srgbClr val="22354A"/>
                </a:solidFill>
                <a:latin typeface="Microsoft YaHei"/>
              </a:rPr>
              <a:t>RapidOCR · EasyOCR · Tesseract
DeepSeek OCR API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50024" y="5102351"/>
            <a:ext cx="1536192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69" b="0">
                <a:solidFill>
                  <a:srgbClr val="5D6877"/>
                </a:solidFill>
                <a:latin typeface="Microsoft YaHei"/>
              </a:rPr>
              <a:t>本地引擎
云 API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06256" y="5102351"/>
            <a:ext cx="2487168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69" b="0">
                <a:solidFill>
                  <a:srgbClr val="5D6877"/>
                </a:solidFill>
                <a:latin typeface="Microsoft YaHei"/>
              </a:rPr>
              <a:t>开源本地
+ API 服务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03504" y="5760720"/>
            <a:ext cx="10972800" cy="402336"/>
          </a:xfrm>
          <a:prstGeom prst="roundRect">
            <a:avLst/>
          </a:prstGeom>
          <a:solidFill>
            <a:srgbClr val="22354A"/>
          </a:solidFill>
          <a:ln w="10160">
            <a:solidFill>
              <a:srgbClr val="22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2104" y="5833872"/>
            <a:ext cx="10515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AIOps 生产规划 / 诊断当前要求客户近端 DeepSeek 兼容服务；本地大模型推理建议部署在独立 GPU 节点。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74904"/>
            <a:ext cx="64008" cy="301752"/>
          </a:xfrm>
          <a:prstGeom prst="rect">
            <a:avLst/>
          </a:prstGeom>
          <a:solidFill>
            <a:srgbClr val="00A99D"/>
          </a:solidFill>
          <a:ln w="10160">
            <a:solidFill>
              <a:srgbClr val="00A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20040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2354A"/>
                </a:solidFill>
                <a:latin typeface="Microsoft YaHei"/>
              </a:rPr>
              <a:t>KBot AIOps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A99D"/>
                </a:solidFill>
                <a:latin typeface="Microsoft YaHei"/>
              </a:rPr>
              <a:t>12 · BUSINESS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0972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2354A"/>
                </a:solidFill>
                <a:latin typeface="Microsoft YaHei"/>
              </a:rPr>
              <a:t>一次严重阻塞告警，如何变成可验证的处理结果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572768"/>
            <a:ext cx="10881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20" b="0">
                <a:solidFill>
                  <a:srgbClr val="5D6877"/>
                </a:solidFill>
                <a:latin typeface="Microsoft YaHei"/>
              </a:rPr>
              <a:t>用一个完整故事理解 KBot AIOps 的客户价值。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46520"/>
            <a:ext cx="274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A6AFBA"/>
                </a:solidFill>
                <a:latin typeface="Microsoft YaHe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3474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A6AFBA"/>
                </a:solidFill>
                <a:latin typeface="Microsoft YaHei"/>
              </a:rPr>
              <a:t>Copyright © 2026, Oracle and/or its affiliates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322576"/>
            <a:ext cx="457200" cy="457200"/>
          </a:xfrm>
          <a:prstGeom prst="ellipse">
            <a:avLst/>
          </a:prstGeom>
          <a:solidFill>
            <a:srgbClr val="3559A4"/>
          </a:solidFill>
          <a:ln>
            <a:solidFill>
              <a:srgbClr val="3559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61288" y="2551176"/>
            <a:ext cx="1197864" cy="0"/>
          </a:xfrm>
          <a:prstGeom prst="line">
            <a:avLst/>
          </a:prstGeom>
          <a:ln w="15240">
            <a:solidFill>
              <a:srgbClr val="8C9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3054096"/>
            <a:ext cx="16276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2354A"/>
                </a:solidFill>
                <a:latin typeface="Microsoft YaHei"/>
              </a:rPr>
              <a:t>告警进入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84448"/>
            <a:ext cx="16276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5D6877"/>
                </a:solidFill>
                <a:latin typeface="Microsoft YaHei"/>
              </a:rPr>
              <a:t>验签 · 映射
去重</a:t>
            </a:r>
          </a:p>
        </p:txBody>
      </p:sp>
      <p:sp>
        <p:nvSpPr>
          <p:cNvPr id="14" name="Oval 13"/>
          <p:cNvSpPr/>
          <p:nvPr/>
        </p:nvSpPr>
        <p:spPr>
          <a:xfrm>
            <a:off x="2569464" y="2322576"/>
            <a:ext cx="457200" cy="457200"/>
          </a:xfrm>
          <a:prstGeom prst="ellipse">
            <a:avLst/>
          </a:prstGeom>
          <a:solidFill>
            <a:srgbClr val="00A99D"/>
          </a:solidFill>
          <a:ln>
            <a:solidFill>
              <a:srgbClr val="00A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9464" y="2395728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44952" y="2551176"/>
            <a:ext cx="1197864" cy="0"/>
          </a:xfrm>
          <a:prstGeom prst="line">
            <a:avLst/>
          </a:prstGeom>
          <a:ln w="15240">
            <a:solidFill>
              <a:srgbClr val="8C9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432304" y="3054096"/>
            <a:ext cx="16276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2354A"/>
                </a:solidFill>
                <a:latin typeface="Microsoft YaHei"/>
              </a:rPr>
              <a:t>自动取证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2304" y="3584448"/>
            <a:ext cx="16276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5D6877"/>
                </a:solidFill>
                <a:latin typeface="Microsoft YaHei"/>
              </a:rPr>
              <a:t>阻塞链 · 会话
指标时间线</a:t>
            </a:r>
          </a:p>
        </p:txBody>
      </p:sp>
      <p:sp>
        <p:nvSpPr>
          <p:cNvPr id="19" name="Oval 18"/>
          <p:cNvSpPr/>
          <p:nvPr/>
        </p:nvSpPr>
        <p:spPr>
          <a:xfrm>
            <a:off x="4453128" y="2322576"/>
            <a:ext cx="457200" cy="457200"/>
          </a:xfrm>
          <a:prstGeom prst="ellipse">
            <a:avLst/>
          </a:prstGeom>
          <a:solidFill>
            <a:srgbClr val="3559A4"/>
          </a:solidFill>
          <a:ln>
            <a:solidFill>
              <a:srgbClr val="3559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2395728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28616" y="2551176"/>
            <a:ext cx="1197864" cy="0"/>
          </a:xfrm>
          <a:prstGeom prst="line">
            <a:avLst/>
          </a:prstGeom>
          <a:ln w="15240">
            <a:solidFill>
              <a:srgbClr val="8C9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15968" y="3054096"/>
            <a:ext cx="16276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2354A"/>
                </a:solidFill>
                <a:latin typeface="Microsoft YaHei"/>
              </a:rPr>
              <a:t>根因评估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8" y="3584448"/>
            <a:ext cx="16276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5D6877"/>
                </a:solidFill>
                <a:latin typeface="Microsoft YaHei"/>
              </a:rPr>
              <a:t>支持证据 · 反证
可信等级</a:t>
            </a:r>
          </a:p>
        </p:txBody>
      </p:sp>
      <p:sp>
        <p:nvSpPr>
          <p:cNvPr id="24" name="Oval 23"/>
          <p:cNvSpPr/>
          <p:nvPr/>
        </p:nvSpPr>
        <p:spPr>
          <a:xfrm>
            <a:off x="6336792" y="2322576"/>
            <a:ext cx="457200" cy="457200"/>
          </a:xfrm>
          <a:prstGeom prst="ellipse">
            <a:avLst/>
          </a:prstGeom>
          <a:solidFill>
            <a:srgbClr val="E9A23B"/>
          </a:solidFill>
          <a:ln>
            <a:solidFill>
              <a:srgbClr val="E9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2395728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12279" y="2551176"/>
            <a:ext cx="1197865" cy="0"/>
          </a:xfrm>
          <a:prstGeom prst="line">
            <a:avLst/>
          </a:prstGeom>
          <a:ln w="15240">
            <a:solidFill>
              <a:srgbClr val="8C9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199631" y="3054096"/>
            <a:ext cx="16276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2354A"/>
                </a:solidFill>
                <a:latin typeface="Microsoft YaHei"/>
              </a:rPr>
              <a:t>形成提案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1" y="3584448"/>
            <a:ext cx="16276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5D6877"/>
                </a:solidFill>
                <a:latin typeface="Microsoft YaHei"/>
              </a:rPr>
              <a:t>风险 · 影响
验证方案</a:t>
            </a:r>
          </a:p>
        </p:txBody>
      </p:sp>
      <p:sp>
        <p:nvSpPr>
          <p:cNvPr id="29" name="Oval 28"/>
          <p:cNvSpPr/>
          <p:nvPr/>
        </p:nvSpPr>
        <p:spPr>
          <a:xfrm>
            <a:off x="8220456" y="2322576"/>
            <a:ext cx="457200" cy="457200"/>
          </a:xfrm>
          <a:prstGeom prst="ellipse">
            <a:avLst/>
          </a:prstGeom>
          <a:solidFill>
            <a:srgbClr val="D94B45"/>
          </a:solidFill>
          <a:ln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0456" y="2395728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695944" y="2551176"/>
            <a:ext cx="1197864" cy="0"/>
          </a:xfrm>
          <a:prstGeom prst="line">
            <a:avLst/>
          </a:prstGeom>
          <a:ln w="15240">
            <a:solidFill>
              <a:srgbClr val="8C9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083296" y="3054096"/>
            <a:ext cx="16276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2354A"/>
                </a:solidFill>
                <a:latin typeface="Microsoft YaHei"/>
              </a:rPr>
              <a:t>人工批准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3296" y="3584448"/>
            <a:ext cx="16276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5D6877"/>
                </a:solidFill>
                <a:latin typeface="Microsoft YaHei"/>
              </a:rPr>
              <a:t>逐条审批
执行器复核</a:t>
            </a:r>
          </a:p>
        </p:txBody>
      </p:sp>
      <p:sp>
        <p:nvSpPr>
          <p:cNvPr id="34" name="Oval 33"/>
          <p:cNvSpPr/>
          <p:nvPr/>
        </p:nvSpPr>
        <p:spPr>
          <a:xfrm>
            <a:off x="10104120" y="2322576"/>
            <a:ext cx="457200" cy="457200"/>
          </a:xfrm>
          <a:prstGeom prst="ellipse">
            <a:avLst/>
          </a:prstGeom>
          <a:solidFill>
            <a:srgbClr val="00A99D"/>
          </a:solidFill>
          <a:ln>
            <a:solidFill>
              <a:srgbClr val="00A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04120" y="2395728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3054096"/>
            <a:ext cx="16276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2354A"/>
                </a:solidFill>
                <a:latin typeface="Microsoft YaHei"/>
              </a:rPr>
              <a:t>验证沉淀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3584448"/>
            <a:ext cx="16276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5D6877"/>
                </a:solidFill>
                <a:latin typeface="Microsoft YaHei"/>
              </a:rPr>
              <a:t>Before / After
故障报告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" y="4700016"/>
            <a:ext cx="10588752" cy="749808"/>
          </a:xfrm>
          <a:prstGeom prst="roundRect">
            <a:avLst/>
          </a:prstGeom>
          <a:solidFill>
            <a:srgbClr val="F5F6F8"/>
          </a:solidFill>
          <a:ln w="10160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882896"/>
            <a:ext cx="10168128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900" b="1">
                <a:solidFill>
                  <a:srgbClr val="22354A"/>
                </a:solidFill>
                <a:latin typeface="Microsoft YaHei"/>
              </a:rPr>
              <a:t>让 AI 参与运维，但让每一步都有证据、有边界、有负责人。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" y="5650992"/>
            <a:ext cx="10972800" cy="548640"/>
          </a:xfrm>
          <a:prstGeom prst="roundRect">
            <a:avLst/>
          </a:prstGeom>
          <a:solidFill>
            <a:srgbClr val="00A99D"/>
          </a:solidFill>
          <a:ln w="10160">
            <a:solidFill>
              <a:srgbClr val="00A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" y="5751576"/>
            <a:ext cx="105156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Microsoft YaHei"/>
              </a:rPr>
              <a:t>KBot AIOps · 从“发现异常”走到“证明改善”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Parent Master Pillars">
  <a:themeElements>
    <a:clrScheme name="Oracle Redwood 08-26-2020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00688C"/>
      </a:hlink>
      <a:folHlink>
        <a:srgbClr val="00688C"/>
      </a:folHlink>
    </a:clrScheme>
    <a:fontScheme name="Oracle Sans Tabular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60000"/>
            <a:lumOff val="40000"/>
          </a:schemeClr>
        </a:solidFill>
        <a:ln w="3175" cap="flat" cmpd="sng" algn="ctr">
          <a:noFill/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threePt" dir="t"/>
        </a:scene3d>
        <a:sp3d>
          <a:bevelT/>
        </a:sp3d>
      </a:spPr>
      <a:bodyPr rtlCol="0" anchor="ctr"/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1" sz="1800" b="0" i="0" u="none" strike="noStrike" kern="0" cap="none" spc="0" normalizeH="0" baseline="0" noProof="0" dirty="0">
            <a:ln>
              <a:noFill/>
            </a:ln>
            <a:solidFill>
              <a:srgbClr val="FCFBFA"/>
            </a:solidFill>
            <a:effectLst/>
            <a:uLnTx/>
            <a:uFillTx/>
            <a:latin typeface="Oracle Sans" panose="020B0503020204020204" pitchFamily="34" charset="0"/>
            <a:ea typeface="Noto Sans SC Regular" panose="020B0500000000000000" pitchFamily="34" charset="-128"/>
            <a:cs typeface="Oracle Sans" panose="020B0503020204020204" pitchFamily="34" charset="0"/>
          </a:defRPr>
        </a:defPPr>
      </a:lstStyle>
    </a:spDef>
  </a:objectDefaults>
  <a:extraClrSchemeLst/>
  <a:custClrLst>
    <a:custClr name="Ocean">
      <a:srgbClr val="2C5967"/>
    </a:custClr>
    <a:custClr name="Surf">
      <a:srgbClr val="41817E"/>
    </a:custClr>
    <a:custClr name="Sand">
      <a:srgbClr val="E5DBBE"/>
    </a:custClr>
    <a:custClr name="Pebble">
      <a:srgbClr val="8B8580"/>
    </a:custClr>
    <a:custClr name="Granite">
      <a:srgbClr val="67605B"/>
    </a:custClr>
    <a:custClr name="Position 6">
      <a:srgbClr val="FFFFFF"/>
    </a:custClr>
    <a:custClr name="Highlight/hyperlink dark theme">
      <a:srgbClr val="F0CC71"/>
    </a:custClr>
    <a:custClr name="Highlight/numbered list light theme">
      <a:srgbClr val="AE562C"/>
    </a:custClr>
    <a:custClr name="Hyperlink light theme (default)">
      <a:srgbClr val="00688C"/>
    </a:custClr>
    <a:custClr name="Numbered list dark theme">
      <a:srgbClr val="759C6C"/>
    </a:custClr>
    <a:custClr name="Brand: Neutral 30">
      <a:srgbClr val="F1EFED"/>
    </a:custClr>
    <a:custClr name="Developer: Pebble 30">
      <a:srgbClr val="E7F0FD"/>
    </a:custClr>
    <a:custClr name="Database: Slate 30">
      <a:srgbClr val="E7F2F2"/>
    </a:custClr>
    <a:custClr name="Cloud Platform: Pine 30">
      <a:srgbClr val="E0F5E7"/>
    </a:custClr>
    <a:custClr name="Finance / Operations: Teal 30">
      <a:srgbClr val="E8F1F0"/>
    </a:custClr>
    <a:custClr name="NetSuite: Ocean 30">
      <a:srgbClr val="E7F2F5"/>
    </a:custClr>
    <a:custClr name="GBU: Lilac 30">
      <a:srgbClr val="EBEFFE"/>
    </a:custClr>
    <a:custClr name="CX/Marketing: Plum 30">
      <a:srgbClr val="F5ECFB"/>
    </a:custClr>
    <a:custClr name="HCM/HR: Rose 30">
      <a:srgbClr val="FBECEF"/>
    </a:custClr>
    <a:custClr name="SCM: Sienna 30">
      <a:srgbClr val="FCEDD9"/>
    </a:custClr>
    <a:custClr name="Brand: Neutral 70">
      <a:srgbClr val="AEA8A2"/>
    </a:custClr>
    <a:custClr name="Developer: Pebble 70">
      <a:srgbClr val="A2AAB6"/>
    </a:custClr>
    <a:custClr name="Database: Slate 70">
      <a:srgbClr val="99ADAE"/>
    </a:custClr>
    <a:custClr name="Cloud Platform: Pine 70">
      <a:srgbClr val="86B596"/>
    </a:custClr>
    <a:custClr name="Finance / Operations: Teal 70">
      <a:srgbClr val="89B2B0"/>
    </a:custClr>
    <a:custClr name="NetSuite: Ocean 70">
      <a:srgbClr val="81B2C3"/>
    </a:custClr>
    <a:custClr name="GBU: Lilac 70">
      <a:srgbClr val="A0A9C5"/>
    </a:custClr>
    <a:custClr name="CX/Marketing: Plum 70">
      <a:srgbClr val="B7A1C4"/>
    </a:custClr>
    <a:custClr name="HCM/HR: Rose 70">
      <a:srgbClr val="CE9BA7"/>
    </a:custClr>
    <a:custClr name="SCM: Sienna 70">
      <a:srgbClr val="D39F5D"/>
    </a:custClr>
    <a:custClr name="Brand: Neutral 140">
      <a:srgbClr val="514C47"/>
    </a:custClr>
    <a:custClr name="Developer: Pebble 140">
      <a:srgbClr val="494D53"/>
    </a:custClr>
    <a:custClr name="Database: Slate 140">
      <a:srgbClr val="464F4F"/>
    </a:custClr>
    <a:custClr name="Cloud Platform: Pine 140">
      <a:srgbClr val="33553C"/>
    </a:custClr>
    <a:custClr name="Finance / Operations: Teal 140">
      <a:srgbClr val="315357"/>
    </a:custClr>
    <a:custClr name="NetSuite: Ocean 140">
      <a:srgbClr val="2C5266"/>
    </a:custClr>
    <a:custClr name="GBU: Lilac 140">
      <a:srgbClr val="464C68"/>
    </a:custClr>
    <a:custClr name="CX/Marketing: Plum 140">
      <a:srgbClr val="594564"/>
    </a:custClr>
    <a:custClr name="HCM/HR: Rose 140">
      <a:srgbClr val="6C3F49"/>
    </a:custClr>
    <a:custClr name="SCM: Sienna 140">
      <a:srgbClr val="713F25"/>
    </a:custClr>
    <a:custClr name="Brand: Neutral 170">
      <a:srgbClr val="312D2A"/>
    </a:custClr>
    <a:custClr name="Developer: Pebble 170">
      <a:srgbClr val="2B2E32"/>
    </a:custClr>
    <a:custClr name="Database: Slate 170">
      <a:srgbClr val="2A2F2F"/>
    </a:custClr>
    <a:custClr name="Cloud Platform: Pine 170">
      <a:srgbClr val="1E3224"/>
    </a:custClr>
    <a:custClr name="Finance / Operations: Teal 170">
      <a:srgbClr val="1E3133"/>
    </a:custClr>
    <a:custClr name="NetSuite: Ocean 170">
      <a:srgbClr val="1A2F3F"/>
    </a:custClr>
    <a:custClr name="GBU: Lilac 170">
      <a:srgbClr val="2A2D3F"/>
    </a:custClr>
    <a:custClr name="CX/Marketing: Plum 170">
      <a:srgbClr val="36293C"/>
    </a:custClr>
    <a:custClr name="HCM/HR: Rose 170">
      <a:srgbClr val="41242B"/>
    </a:custClr>
    <a:custClr name="SCM: Sienna 170">
      <a:srgbClr val="442616"/>
    </a:custClr>
  </a:custClrLst>
  <a:extLst>
    <a:ext uri="{05A4C25C-085E-4340-85A3-A5531E510DB2}">
      <thm15:themeFamily xmlns:thm15="http://schemas.microsoft.com/office/thememl/2012/main" name="Oracle Redwood Modern v1.3.potx" id="{C40D26AA-AE81-48D1-A0F0-5E13EA2B508E}" vid="{041AC451-E38F-4576-BE01-533403702A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racle Redwood 06-2020">
    <a:dk1>
      <a:srgbClr val="312D2A"/>
    </a:dk1>
    <a:lt1>
      <a:srgbClr val="FCFBFA"/>
    </a:lt1>
    <a:dk2>
      <a:srgbClr val="312D2A"/>
    </a:dk2>
    <a:lt2>
      <a:srgbClr val="FCFBFA"/>
    </a:lt2>
    <a:accent1>
      <a:srgbClr val="C74634"/>
    </a:accent1>
    <a:accent2>
      <a:srgbClr val="FACD62"/>
    </a:accent2>
    <a:accent3>
      <a:srgbClr val="94AFAF"/>
    </a:accent3>
    <a:accent4>
      <a:srgbClr val="2B6242"/>
    </a:accent4>
    <a:accent5>
      <a:srgbClr val="AE562C"/>
    </a:accent5>
    <a:accent6>
      <a:srgbClr val="759C6C"/>
    </a:accent6>
    <a:hlink>
      <a:srgbClr val="2C5967"/>
    </a:hlink>
    <a:folHlink>
      <a:srgbClr val="2C5967"/>
    </a:folHlink>
  </a:clrScheme>
</a:themeOverride>
</file>

<file path=docMetadata/LabelInfo.xml><?xml version="1.0" encoding="utf-8"?>
<clbl:labelList xmlns:clbl="http://schemas.microsoft.com/office/2020/mipLabelMetadata">
  <clbl:label id="{3c76ce46-357f-46de-88d6-77b9bbb83c46}" enabled="1" method="Privileged" siteId="{4e2c6054-71cb-48f1-bd6c-3a9705aca71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72070</TotalTime>
  <Words>1127</Words>
  <Application>Microsoft Macintosh PowerPoint</Application>
  <PresentationFormat>宽屏</PresentationFormat>
  <Paragraphs>350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等线</vt:lpstr>
      <vt:lpstr>Microsoft YaHei</vt:lpstr>
      <vt:lpstr>System Font Regular</vt:lpstr>
      <vt:lpstr>Arial</vt:lpstr>
      <vt:lpstr>Oracle Sans</vt:lpstr>
      <vt:lpstr>Oracle Sans Light</vt:lpstr>
      <vt:lpstr>Oracle Sans Tab</vt:lpstr>
      <vt:lpstr>Oracle Sans Tab Light</vt:lpstr>
      <vt:lpstr>Parent Master Pillars</vt:lpstr>
      <vt:lpstr>AIOps 智能运维 Agent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Oracle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Demo</dc:title>
  <dc:creator>Justin Zou</dc:creator>
  <cp:lastModifiedBy>Christopher Gu</cp:lastModifiedBy>
  <cp:revision>10226</cp:revision>
  <dcterms:created xsi:type="dcterms:W3CDTF">2021-05-14T05:30:51Z</dcterms:created>
  <dcterms:modified xsi:type="dcterms:W3CDTF">2026-10-13T03:04:45Z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4de43ec-192a-49eb-8e54-baeb8c71bbbe_Enabled">
    <vt:lpwstr>true</vt:lpwstr>
  </property>
  <property fmtid="{D5CDD505-2E9C-101B-9397-08002B2CF9AE}" pid="3" name="MSIP_Label_a4de43ec-192a-49eb-8e54-baeb8c71bbbe_SetDate">
    <vt:lpwstr>2025-06-25T04:44:51Z</vt:lpwstr>
  </property>
  <property fmtid="{D5CDD505-2E9C-101B-9397-08002B2CF9AE}" pid="4" name="MSIP_Label_a4de43ec-192a-49eb-8e54-baeb8c71bbbe_Method">
    <vt:lpwstr>Standard</vt:lpwstr>
  </property>
  <property fmtid="{D5CDD505-2E9C-101B-9397-08002B2CF9AE}" pid="5" name="MSIP_Label_a4de43ec-192a-49eb-8e54-baeb8c71bbbe_Name">
    <vt:lpwstr>Confidential – Oracle Internal</vt:lpwstr>
  </property>
  <property fmtid="{D5CDD505-2E9C-101B-9397-08002B2CF9AE}" pid="6" name="MSIP_Label_a4de43ec-192a-49eb-8e54-baeb8c71bbbe_SiteId">
    <vt:lpwstr>4e2c6054-71cb-48f1-bd6c-3a9705aca71b</vt:lpwstr>
  </property>
  <property fmtid="{D5CDD505-2E9C-101B-9397-08002B2CF9AE}" pid="7" name="MSIP_Label_a4de43ec-192a-49eb-8e54-baeb8c71bbbe_ActionId">
    <vt:lpwstr>781ef17c-18fe-4e20-b2bc-afa32ad96f37</vt:lpwstr>
  </property>
  <property fmtid="{D5CDD505-2E9C-101B-9397-08002B2CF9AE}" pid="8" name="MSIP_Label_a4de43ec-192a-49eb-8e54-baeb8c71bbbe_ContentBits">
    <vt:lpwstr>2</vt:lpwstr>
  </property>
  <property fmtid="{D5CDD505-2E9C-101B-9397-08002B2CF9AE}" pid="9" name="MSIP_Label_a4de43ec-192a-49eb-8e54-baeb8c71bbbe_Tag">
    <vt:lpwstr>50, 3, 0, 1</vt:lpwstr>
  </property>
  <property fmtid="{D5CDD505-2E9C-101B-9397-08002B2CF9AE}" pid="10" name="ClassificationContentMarkingFooterText">
    <vt:lpwstr>Confidential – Oracle Internal</vt:lpwstr>
  </property>
</Properties>
</file>